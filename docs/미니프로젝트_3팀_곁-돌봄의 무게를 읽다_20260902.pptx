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6" r:id="rId14"/>
    <p:sldId id="277" r:id="rId15"/>
    <p:sldId id="269" r:id="rId16"/>
    <p:sldId id="275" r:id="rId17"/>
    <p:sldId id="271" r:id="rId18"/>
    <p:sldId id="272" r:id="rId19"/>
    <p:sldId id="274" r:id="rId20"/>
    <p:sldId id="273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99FF"/>
    <a:srgbClr val="0000FF"/>
    <a:srgbClr val="EFE7DC"/>
    <a:srgbClr val="FFFAF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63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6000" y="459724"/>
            <a:ext cx="11280000" cy="540000"/>
          </a:xfrm>
        </p:spPr>
        <p:txBody>
          <a:bodyPr>
            <a:normAutofit/>
          </a:bodyPr>
          <a:lstStyle>
            <a:lvl1pPr>
              <a:defRPr sz="3200">
                <a:latin typeface="+mj-ea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0000" y="1238251"/>
            <a:ext cx="11280000" cy="4952999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83562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49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97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15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6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15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07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817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4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35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62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80000" y="497824"/>
            <a:ext cx="112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80000" y="1219756"/>
            <a:ext cx="11280000" cy="49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80000" y="63436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B729F93-D719-34CF-AE06-0DACFA419CDE}"/>
              </a:ext>
            </a:extLst>
          </p:cNvPr>
          <p:cNvSpPr/>
          <p:nvPr userDrawn="1"/>
        </p:nvSpPr>
        <p:spPr>
          <a:xfrm>
            <a:off x="408000" y="1113550"/>
            <a:ext cx="11376000" cy="15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2518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p3.sumzip.co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BE3C0-CC0F-9B79-80A0-930AED71C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2143432"/>
            <a:ext cx="6669221" cy="1285569"/>
          </a:xfrm>
          <a:solidFill>
            <a:srgbClr val="C96F4A"/>
          </a:solidFill>
        </p:spPr>
        <p:txBody>
          <a:bodyPr anchor="ctr">
            <a:normAutofit/>
          </a:bodyPr>
          <a:lstStyle/>
          <a:p>
            <a:pPr algn="l"/>
            <a:r>
              <a:rPr lang="ko-KR" altLang="en-US" sz="4000" dirty="0">
                <a:solidFill>
                  <a:srgbClr val="FFFAF5"/>
                </a:solidFill>
                <a:latin typeface="+mj-ea"/>
                <a:ea typeface="+mj-ea"/>
                <a:cs typeface="ADLaM Display" panose="020F0502020204030204" pitchFamily="2" charset="0"/>
              </a:rPr>
              <a:t>곁 </a:t>
            </a:r>
            <a:r>
              <a:rPr lang="en-US" altLang="ko-KR" sz="4000" dirty="0">
                <a:solidFill>
                  <a:srgbClr val="FFFAF5"/>
                </a:solidFill>
                <a:latin typeface="+mj-ea"/>
                <a:ea typeface="+mj-ea"/>
                <a:cs typeface="ADLaM Display" panose="020F0502020204030204" pitchFamily="2" charset="0"/>
              </a:rPr>
              <a:t>— </a:t>
            </a:r>
            <a:r>
              <a:rPr lang="ko-KR" altLang="en-US" sz="4000" dirty="0">
                <a:solidFill>
                  <a:srgbClr val="FFFAF5"/>
                </a:solidFill>
                <a:latin typeface="+mj-ea"/>
                <a:ea typeface="+mj-ea"/>
                <a:cs typeface="ADLaM Display" panose="020F0502020204030204" pitchFamily="2" charset="0"/>
              </a:rPr>
              <a:t>돌봄의 무게를 읽다</a:t>
            </a:r>
            <a:endParaRPr lang="ko-KR" altLang="en-US" sz="4400" dirty="0">
              <a:solidFill>
                <a:srgbClr val="FFFAF5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3E2C03-EDC8-A31B-DA13-0C5385CF0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3602038"/>
            <a:ext cx="9845040" cy="1655762"/>
          </a:xfrm>
        </p:spPr>
        <p:txBody>
          <a:bodyPr/>
          <a:lstStyle/>
          <a:p>
            <a:pPr algn="l"/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발달장애인 보호자 </a:t>
            </a:r>
            <a:r>
              <a:rPr lang="ko-KR" altLang="en-US" sz="2000" dirty="0" err="1">
                <a:solidFill>
                  <a:srgbClr val="4A443E"/>
                </a:solidFill>
                <a:latin typeface="+mn-ea"/>
              </a:rPr>
              <a:t>돌봄부담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 경량 진단 및 복지서비스 연계</a:t>
            </a:r>
          </a:p>
          <a:p>
            <a:pPr algn="l"/>
            <a:endParaRPr lang="en-US" altLang="ko-KR" dirty="0">
              <a:latin typeface="+mn-ea"/>
            </a:endParaRPr>
          </a:p>
          <a:p>
            <a:pPr algn="l"/>
            <a:endParaRPr lang="en-US" altLang="ko-KR" dirty="0">
              <a:latin typeface="+mn-ea"/>
            </a:endParaRPr>
          </a:p>
          <a:p>
            <a:pPr algn="l"/>
            <a:endParaRPr lang="en-US" altLang="ko-KR" sz="1400" dirty="0">
              <a:solidFill>
                <a:srgbClr val="8A8176"/>
              </a:solidFill>
              <a:latin typeface="+mn-ea"/>
            </a:endParaRPr>
          </a:p>
          <a:p>
            <a:pPr algn="l"/>
            <a:r>
              <a:rPr lang="en-US" altLang="ko-KR" sz="1400" dirty="0">
                <a:solidFill>
                  <a:srgbClr val="8A8176"/>
                </a:solidFill>
                <a:latin typeface="+mn-ea"/>
              </a:rPr>
              <a:t>Pioneer 3 </a:t>
            </a: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팀   </a:t>
            </a:r>
            <a:r>
              <a:rPr lang="en-US" altLang="ko-KR" sz="1400" dirty="0">
                <a:solidFill>
                  <a:srgbClr val="8A8176"/>
                </a:solidFill>
                <a:latin typeface="+mn-ea"/>
              </a:rPr>
              <a:t>·   2026-09-01   ·   https://p3.sumzip.com</a:t>
            </a:r>
          </a:p>
        </p:txBody>
      </p:sp>
    </p:spTree>
    <p:extLst>
      <p:ext uri="{BB962C8B-B14F-4D97-AF65-F5344CB8AC3E}">
        <p14:creationId xmlns:p14="http://schemas.microsoft.com/office/powerpoint/2010/main" val="2775321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09842-CE30-FEAA-70B8-E79786846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왜 만들었나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6CD0A0-7926-7058-73E0-DA51AFFC8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361969"/>
            <a:ext cx="11280000" cy="263565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4A443E"/>
                </a:solidFill>
                <a:latin typeface="Apple SD Gothic Neo"/>
              </a:rPr>
              <a:t>발달장애인 보호자의 </a:t>
            </a:r>
            <a:r>
              <a:rPr lang="ko-KR" altLang="en-US" dirty="0" err="1">
                <a:solidFill>
                  <a:srgbClr val="4A443E"/>
                </a:solidFill>
                <a:latin typeface="Apple SD Gothic Neo"/>
              </a:rPr>
              <a:t>돌봄부담은</a:t>
            </a:r>
            <a:r>
              <a:rPr lang="ko-KR" altLang="en-US" dirty="0">
                <a:solidFill>
                  <a:srgbClr val="4A443E"/>
                </a:solidFill>
                <a:latin typeface="Apple SD Gothic Neo"/>
              </a:rPr>
              <a:t> 본인도 자기 상태를 객관적으로 보기 어렵다</a:t>
            </a:r>
            <a:r>
              <a:rPr lang="en-US" altLang="ko-KR" dirty="0">
                <a:solidFill>
                  <a:srgbClr val="4A443E"/>
                </a:solidFill>
                <a:latin typeface="Apple SD Gothic Neo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4A443E"/>
                </a:solidFill>
                <a:latin typeface="Apple SD Gothic Neo"/>
              </a:rPr>
              <a:t>＂</a:t>
            </a:r>
            <a:r>
              <a:rPr lang="ko-KR" altLang="en-US" dirty="0">
                <a:solidFill>
                  <a:srgbClr val="4A443E"/>
                </a:solidFill>
                <a:latin typeface="Apple SD Gothic Neo"/>
              </a:rPr>
              <a:t>나만 이렇게 힘들까</a:t>
            </a:r>
            <a:r>
              <a:rPr lang="en-US" altLang="ko-KR" dirty="0">
                <a:solidFill>
                  <a:srgbClr val="4A443E"/>
                </a:solidFill>
                <a:latin typeface="Apple SD Gothic Neo"/>
              </a:rPr>
              <a:t>＂</a:t>
            </a:r>
            <a:r>
              <a:rPr lang="ko-KR" altLang="en-US" dirty="0">
                <a:solidFill>
                  <a:srgbClr val="4A443E"/>
                </a:solidFill>
                <a:latin typeface="Apple SD Gothic Neo"/>
              </a:rPr>
              <a:t>라고 생각하며 버티다 한계에 다다르는 경우가 많다</a:t>
            </a:r>
            <a:r>
              <a:rPr lang="en-US" altLang="ko-KR" dirty="0">
                <a:solidFill>
                  <a:srgbClr val="4A443E"/>
                </a:solidFill>
                <a:latin typeface="Apple SD Gothic Neo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4A443E"/>
                </a:solidFill>
                <a:latin typeface="Apple SD Gothic Neo"/>
              </a:rPr>
              <a:t>지원 제도 정보 부족 </a:t>
            </a:r>
            <a:r>
              <a:rPr lang="en-US" altLang="ko-KR" dirty="0">
                <a:solidFill>
                  <a:srgbClr val="4A443E"/>
                </a:solidFill>
                <a:latin typeface="Apple SD Gothic Neo"/>
              </a:rPr>
              <a:t>– </a:t>
            </a:r>
            <a:r>
              <a:rPr lang="ko-KR" altLang="en-US" dirty="0">
                <a:solidFill>
                  <a:srgbClr val="4A443E"/>
                </a:solidFill>
                <a:latin typeface="Apple SD Gothic Neo"/>
              </a:rPr>
              <a:t>그런데 지원 제도는 본인이 찾아와 신청해야 작동한다</a:t>
            </a:r>
            <a:r>
              <a:rPr lang="en-US" altLang="ko-KR" dirty="0">
                <a:solidFill>
                  <a:srgbClr val="4A443E"/>
                </a:solidFill>
                <a:latin typeface="Apple SD Gothic Neo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C96F4A"/>
                </a:solidFill>
                <a:latin typeface="Apple SD Gothic Neo"/>
              </a:rPr>
              <a:t>부담이 클수록 알아볼 여력이 없다는 역설이 있다</a:t>
            </a:r>
            <a:r>
              <a:rPr lang="en-US" altLang="ko-KR" b="1" dirty="0">
                <a:solidFill>
                  <a:srgbClr val="C96F4A"/>
                </a:solidFill>
                <a:latin typeface="Apple SD Gothic Neo"/>
              </a:rPr>
              <a:t>.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7DE8F-24D1-7620-33E6-791C1678F891}"/>
              </a:ext>
            </a:extLst>
          </p:cNvPr>
          <p:cNvSpPr txBox="1"/>
          <p:nvPr/>
        </p:nvSpPr>
        <p:spPr>
          <a:xfrm>
            <a:off x="480000" y="4536854"/>
            <a:ext cx="10503801" cy="14415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4A443E"/>
                </a:solidFill>
                <a:latin typeface="Apple SD Gothic Neo"/>
              </a:rPr>
              <a:t>짧은</a:t>
            </a:r>
            <a:r>
              <a:rPr sz="1500" b="0" dirty="0">
                <a:solidFill>
                  <a:srgbClr val="4A443E"/>
                </a:solidFill>
                <a:latin typeface="Apple SD Gothic Neo"/>
              </a:rPr>
              <a:t> </a:t>
            </a:r>
            <a:r>
              <a:rPr sz="1500" b="0" dirty="0" err="1">
                <a:solidFill>
                  <a:srgbClr val="4A443E"/>
                </a:solidFill>
                <a:latin typeface="Apple SD Gothic Neo"/>
              </a:rPr>
              <a:t>설문으로</a:t>
            </a:r>
            <a:r>
              <a:rPr lang="en-US" sz="1500" b="0" dirty="0">
                <a:solidFill>
                  <a:srgbClr val="4A443E"/>
                </a:solidFill>
                <a:latin typeface="Apple SD Gothic Neo"/>
              </a:rPr>
              <a:t>  		</a:t>
            </a:r>
            <a:r>
              <a:rPr lang="ko-KR" altLang="en-US" sz="1500" dirty="0">
                <a:solidFill>
                  <a:srgbClr val="4A443E"/>
                </a:solidFill>
                <a:latin typeface="Apple SD Gothic Neo"/>
              </a:rPr>
              <a:t>지금의 </a:t>
            </a:r>
            <a:r>
              <a:rPr lang="ko-KR" altLang="en-US" sz="1500" dirty="0" err="1">
                <a:solidFill>
                  <a:srgbClr val="4A443E"/>
                </a:solidFill>
                <a:latin typeface="Apple SD Gothic Neo"/>
              </a:rPr>
              <a:t>돌봄부담이</a:t>
            </a:r>
            <a:r>
              <a:rPr lang="ko-KR" altLang="en-US" sz="1500" dirty="0">
                <a:solidFill>
                  <a:srgbClr val="4A443E"/>
                </a:solidFill>
                <a:latin typeface="Apple SD Gothic Neo"/>
              </a:rPr>
              <a:t> 어느 수준인지 가늠할 근거를 준다</a:t>
            </a:r>
            <a:endParaRPr lang="en-US" sz="1500" b="0" dirty="0">
              <a:solidFill>
                <a:srgbClr val="4A443E"/>
              </a:solidFill>
              <a:latin typeface="Apple SD Gothic Neo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4A443E"/>
                </a:solidFill>
                <a:latin typeface="Apple SD Gothic Neo"/>
              </a:rPr>
              <a:t>판단 근거를 함께 </a:t>
            </a:r>
            <a:r>
              <a:rPr lang="en-US" altLang="ko-KR" sz="1500" dirty="0">
                <a:solidFill>
                  <a:srgbClr val="4A443E"/>
                </a:solidFill>
                <a:latin typeface="Apple SD Gothic Neo"/>
              </a:rPr>
              <a:t>		"</a:t>
            </a:r>
            <a:r>
              <a:rPr lang="ko-KR" altLang="en-US" sz="1500" dirty="0">
                <a:solidFill>
                  <a:srgbClr val="4A443E"/>
                </a:solidFill>
                <a:latin typeface="Apple SD Gothic Neo"/>
              </a:rPr>
              <a:t>왜 그렇게 봤는지</a:t>
            </a:r>
            <a:r>
              <a:rPr lang="en-US" altLang="ko-KR" sz="1500" dirty="0">
                <a:solidFill>
                  <a:srgbClr val="4A443E"/>
                </a:solidFill>
                <a:latin typeface="Apple SD Gothic Neo"/>
              </a:rPr>
              <a:t>"</a:t>
            </a:r>
            <a:r>
              <a:rPr lang="ko-KR" altLang="en-US" sz="1500" dirty="0">
                <a:solidFill>
                  <a:srgbClr val="4A443E"/>
                </a:solidFill>
                <a:latin typeface="Apple SD Gothic Neo"/>
              </a:rPr>
              <a:t>를 응답으로 되짚어 준다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4A443E"/>
                </a:solidFill>
                <a:latin typeface="Apple SD Gothic Neo"/>
              </a:rPr>
              <a:t>즉시 연결  </a:t>
            </a:r>
            <a:r>
              <a:rPr lang="en-US" altLang="ko-KR" sz="1500" dirty="0">
                <a:solidFill>
                  <a:srgbClr val="4A443E"/>
                </a:solidFill>
                <a:latin typeface="Apple SD Gothic Neo"/>
              </a:rPr>
              <a:t>		</a:t>
            </a:r>
            <a:r>
              <a:rPr lang="ko-KR" altLang="en-US" sz="1500" dirty="0">
                <a:solidFill>
                  <a:srgbClr val="4A443E"/>
                </a:solidFill>
                <a:latin typeface="Apple SD Gothic Neo"/>
              </a:rPr>
              <a:t>부담이 크면 추가 조작 없이 가까운 접수처 </a:t>
            </a:r>
            <a:r>
              <a:rPr lang="en-US" altLang="ko-KR" sz="1500" dirty="0">
                <a:solidFill>
                  <a:srgbClr val="4A443E"/>
                </a:solidFill>
                <a:latin typeface="Apple SD Gothic Neo"/>
              </a:rPr>
              <a:t>3</a:t>
            </a:r>
            <a:r>
              <a:rPr lang="ko-KR" altLang="en-US" sz="1500" dirty="0">
                <a:solidFill>
                  <a:srgbClr val="4A443E"/>
                </a:solidFill>
                <a:latin typeface="Apple SD Gothic Neo"/>
              </a:rPr>
              <a:t>곳을 보여준다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500" dirty="0">
              <a:solidFill>
                <a:srgbClr val="4A443E"/>
              </a:solidFill>
              <a:latin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420506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D799B-661F-F8C0-A0B4-F0E4EC1F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데이터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— 2024 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발달장애인 일과 삶 실태조사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A9B304-ADD2-2115-80BE-6354DD5AC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4965290"/>
            <a:ext cx="11280000" cy="16389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b="1" dirty="0" err="1">
                <a:solidFill>
                  <a:srgbClr val="2B2724"/>
                </a:solidFill>
                <a:latin typeface="+mn-ea"/>
                <a:ea typeface="+mn-ea"/>
              </a:rPr>
              <a:t>고부담</a:t>
            </a:r>
            <a:r>
              <a:rPr lang="en-US" altLang="ko-KR" b="1" dirty="0">
                <a:solidFill>
                  <a:srgbClr val="2B2724"/>
                </a:solidFill>
                <a:latin typeface="+mn-ea"/>
                <a:ea typeface="+mn-ea"/>
              </a:rPr>
              <a:t>(1~2</a:t>
            </a:r>
            <a:r>
              <a:rPr lang="ko-KR" altLang="en-US" b="1" dirty="0">
                <a:solidFill>
                  <a:srgbClr val="2B2724"/>
                </a:solidFill>
                <a:latin typeface="+mn-ea"/>
                <a:ea typeface="+mn-ea"/>
              </a:rPr>
              <a:t>단계</a:t>
            </a:r>
            <a:r>
              <a:rPr lang="en-US" altLang="ko-KR" b="1" dirty="0">
                <a:solidFill>
                  <a:srgbClr val="2B2724"/>
                </a:solidFill>
                <a:latin typeface="+mn-ea"/>
                <a:ea typeface="+mn-ea"/>
              </a:rPr>
              <a:t>)</a:t>
            </a:r>
            <a:r>
              <a:rPr lang="ko-KR" altLang="en-US" b="1" dirty="0">
                <a:solidFill>
                  <a:srgbClr val="2B2724"/>
                </a:solidFill>
                <a:latin typeface="+mn-ea"/>
                <a:ea typeface="+mn-ea"/>
              </a:rPr>
              <a:t>이 </a:t>
            </a:r>
            <a:r>
              <a:rPr lang="en-US" altLang="ko-KR" b="1" dirty="0">
                <a:solidFill>
                  <a:srgbClr val="2B2724"/>
                </a:solidFill>
                <a:latin typeface="+mn-ea"/>
                <a:ea typeface="+mn-ea"/>
              </a:rPr>
              <a:t>1,629</a:t>
            </a:r>
            <a:r>
              <a:rPr lang="ko-KR" altLang="en-US" b="1" dirty="0">
                <a:solidFill>
                  <a:srgbClr val="2B2724"/>
                </a:solidFill>
                <a:latin typeface="+mn-ea"/>
                <a:ea typeface="+mn-ea"/>
              </a:rPr>
              <a:t>가구</a:t>
            </a:r>
            <a:r>
              <a:rPr lang="en-US" altLang="ko-KR" b="1" dirty="0">
                <a:solidFill>
                  <a:srgbClr val="2B2724"/>
                </a:solidFill>
                <a:latin typeface="+mn-ea"/>
                <a:ea typeface="+mn-ea"/>
              </a:rPr>
              <a:t>, </a:t>
            </a:r>
            <a:r>
              <a:rPr lang="ko-KR" altLang="en-US" b="1" dirty="0">
                <a:solidFill>
                  <a:srgbClr val="2B2724"/>
                </a:solidFill>
                <a:latin typeface="+mn-ea"/>
                <a:ea typeface="+mn-ea"/>
              </a:rPr>
              <a:t>절반을 넘는다</a:t>
            </a:r>
            <a:r>
              <a:rPr lang="en-US" altLang="ko-KR" b="1" dirty="0">
                <a:solidFill>
                  <a:srgbClr val="2B2724"/>
                </a:solidFill>
                <a:latin typeface="+mn-ea"/>
                <a:ea typeface="+mn-ea"/>
              </a:rPr>
              <a:t>. </a:t>
            </a:r>
            <a:r>
              <a:rPr lang="ko-KR" altLang="en-US" b="1" dirty="0">
                <a:solidFill>
                  <a:srgbClr val="2B2724"/>
                </a:solidFill>
                <a:latin typeface="+mn-ea"/>
                <a:ea typeface="+mn-ea"/>
              </a:rPr>
              <a:t>반대로 </a:t>
            </a:r>
            <a:r>
              <a:rPr lang="en-US" altLang="ko-KR" b="1" dirty="0">
                <a:solidFill>
                  <a:srgbClr val="2B2724"/>
                </a:solidFill>
                <a:latin typeface="+mn-ea"/>
                <a:ea typeface="+mn-ea"/>
              </a:rPr>
              <a:t>"</a:t>
            </a:r>
            <a:r>
              <a:rPr lang="ko-KR" altLang="en-US" b="1" dirty="0">
                <a:solidFill>
                  <a:srgbClr val="2B2724"/>
                </a:solidFill>
                <a:latin typeface="+mn-ea"/>
                <a:ea typeface="+mn-ea"/>
              </a:rPr>
              <a:t>부담 없음</a:t>
            </a:r>
            <a:r>
              <a:rPr lang="en-US" altLang="ko-KR" b="1" dirty="0">
                <a:solidFill>
                  <a:srgbClr val="2B2724"/>
                </a:solidFill>
                <a:latin typeface="+mn-ea"/>
                <a:ea typeface="+mn-ea"/>
              </a:rPr>
              <a:t>"</a:t>
            </a:r>
            <a:r>
              <a:rPr lang="ko-KR" altLang="en-US" b="1" dirty="0">
                <a:solidFill>
                  <a:srgbClr val="2B2724"/>
                </a:solidFill>
                <a:latin typeface="+mn-ea"/>
                <a:ea typeface="+mn-ea"/>
              </a:rPr>
              <a:t>은 </a:t>
            </a:r>
            <a:r>
              <a:rPr lang="en-US" altLang="ko-KR" b="1" dirty="0">
                <a:solidFill>
                  <a:srgbClr val="2B2724"/>
                </a:solidFill>
                <a:latin typeface="+mn-ea"/>
                <a:ea typeface="+mn-ea"/>
              </a:rPr>
              <a:t>77</a:t>
            </a:r>
            <a:r>
              <a:rPr lang="ko-KR" altLang="en-US" b="1" dirty="0">
                <a:solidFill>
                  <a:srgbClr val="2B2724"/>
                </a:solidFill>
                <a:latin typeface="+mn-ea"/>
                <a:ea typeface="+mn-ea"/>
              </a:rPr>
              <a:t>건 뿐이다</a:t>
            </a:r>
            <a:r>
              <a:rPr lang="en-US" altLang="ko-KR" b="1" dirty="0">
                <a:solidFill>
                  <a:srgbClr val="2B2724"/>
                </a:solidFill>
                <a:latin typeface="+mn-ea"/>
                <a:ea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1600" dirty="0" err="1">
                <a:latin typeface="+mn-ea"/>
                <a:ea typeface="+mn-ea"/>
              </a:rPr>
              <a:t>돌봄부담은</a:t>
            </a:r>
            <a:r>
              <a:rPr lang="ko-KR" altLang="en-US" sz="1600" dirty="0">
                <a:latin typeface="+mn-ea"/>
                <a:ea typeface="+mn-ea"/>
              </a:rPr>
              <a:t> 예외가 아니라 기본값에 가깝다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dirty="0">
                <a:latin typeface="+mn-ea"/>
                <a:ea typeface="+mn-ea"/>
              </a:rPr>
              <a:t>척도 주의 </a:t>
            </a:r>
            <a:r>
              <a:rPr lang="en-US" altLang="ko-KR" sz="1600" dirty="0">
                <a:latin typeface="+mn-ea"/>
                <a:ea typeface="+mn-ea"/>
              </a:rPr>
              <a:t>— </a:t>
            </a:r>
            <a:r>
              <a:rPr lang="ko-KR" altLang="en-US" sz="1600" dirty="0">
                <a:latin typeface="+mn-ea"/>
                <a:ea typeface="+mn-ea"/>
              </a:rPr>
              <a:t>숫자가 작을수록 부담이 크다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서비스는 표시 명칭으로만 노출한다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0E04A-F1C4-9F9B-9A45-19E270B2D33C}"/>
              </a:ext>
            </a:extLst>
          </p:cNvPr>
          <p:cNvSpPr txBox="1"/>
          <p:nvPr/>
        </p:nvSpPr>
        <p:spPr>
          <a:xfrm>
            <a:off x="838200" y="1181524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전국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대표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표본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3,000가구 ·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정제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후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설명변수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38개 · train 2,398 / test 602</a:t>
            </a:r>
          </a:p>
        </p:txBody>
      </p:sp>
      <p:pic>
        <p:nvPicPr>
          <p:cNvPr id="7" name="Picture 5" descr="A-부담분포.png">
            <a:extLst>
              <a:ext uri="{FF2B5EF4-FFF2-40B4-BE49-F238E27FC236}">
                <a16:creationId xmlns:a16="http://schemas.microsoft.com/office/drawing/2014/main" id="{378719E9-B053-F840-4D01-307E1A7E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8724"/>
            <a:ext cx="10515600" cy="286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826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85685-684C-602C-FF58-84087830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정답이 새는 변수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6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개를 일부러 버렸다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90608-F92C-80F6-B5C0-860336F4C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5524" y="1336157"/>
            <a:ext cx="3430475" cy="395097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40000"/>
              </a:lnSpc>
              <a:spcAft>
                <a:spcPts val="800"/>
              </a:spcAft>
              <a:buNone/>
            </a:pP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버린 것 중 </a:t>
            </a: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1</a:t>
            </a: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위 </a:t>
            </a:r>
            <a:endParaRPr lang="en-US" altLang="ko-KR" dirty="0">
              <a:solidFill>
                <a:srgbClr val="4A443E"/>
              </a:solidFill>
              <a:latin typeface="+mn-ea"/>
              <a:ea typeface="+mn-ea"/>
            </a:endParaRPr>
          </a:p>
          <a:p>
            <a:pPr marL="0" indent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	</a:t>
            </a: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보호자 삶 만족도 </a:t>
            </a: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19.06%</a:t>
            </a:r>
          </a:p>
          <a:p>
            <a:pPr marL="0" indent="0">
              <a:lnSpc>
                <a:spcPct val="140000"/>
              </a:lnSpc>
              <a:spcAft>
                <a:spcPts val="800"/>
              </a:spcAft>
              <a:buNone/>
            </a:pP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남은 </a:t>
            </a: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38</a:t>
            </a: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개 중 최고</a:t>
            </a: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(8.23%)</a:t>
            </a: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의 </a:t>
            </a:r>
            <a:endParaRPr lang="en-US" altLang="ko-KR" dirty="0">
              <a:solidFill>
                <a:srgbClr val="4A443E"/>
              </a:solidFill>
              <a:latin typeface="+mn-ea"/>
              <a:ea typeface="+mn-ea"/>
            </a:endParaRPr>
          </a:p>
          <a:p>
            <a:pPr marL="0" indent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	2.3</a:t>
            </a: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배다</a:t>
            </a: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.</a:t>
            </a:r>
          </a:p>
          <a:p>
            <a:pPr marL="0" indent="0">
              <a:lnSpc>
                <a:spcPct val="140000"/>
              </a:lnSpc>
              <a:spcAft>
                <a:spcPts val="800"/>
              </a:spcAft>
              <a:buNone/>
            </a:pPr>
            <a:endParaRPr lang="en-US" altLang="ko-KR" dirty="0">
              <a:solidFill>
                <a:srgbClr val="4A443E"/>
              </a:solidFill>
              <a:latin typeface="+mn-ea"/>
              <a:ea typeface="+mn-ea"/>
            </a:endParaRPr>
          </a:p>
          <a:p>
            <a:pPr marL="0" indent="0">
              <a:lnSpc>
                <a:spcPct val="140000"/>
              </a:lnSpc>
              <a:spcAft>
                <a:spcPts val="800"/>
              </a:spcAft>
              <a:buNone/>
            </a:pP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넣으면 성적은 오른다</a:t>
            </a: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.</a:t>
            </a:r>
          </a:p>
          <a:p>
            <a:pPr marL="0" indent="0">
              <a:lnSpc>
                <a:spcPct val="140000"/>
              </a:lnSpc>
              <a:spcAft>
                <a:spcPts val="800"/>
              </a:spcAft>
              <a:buNone/>
            </a:pP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그런데 </a:t>
            </a: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"</a:t>
            </a: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보호자 만족도로 보호자 부담을 예측</a:t>
            </a: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"</a:t>
            </a:r>
            <a:r>
              <a:rPr lang="ko-KR" altLang="en-US" dirty="0">
                <a:solidFill>
                  <a:srgbClr val="4A443E"/>
                </a:solidFill>
                <a:latin typeface="+mn-ea"/>
                <a:ea typeface="+mn-ea"/>
              </a:rPr>
              <a:t>하는 것은 동어반복이다</a:t>
            </a:r>
            <a:r>
              <a:rPr lang="en-US" altLang="ko-KR" dirty="0">
                <a:solidFill>
                  <a:srgbClr val="4A443E"/>
                </a:solidFill>
                <a:latin typeface="+mn-ea"/>
                <a:ea typeface="+mn-ea"/>
              </a:rPr>
              <a:t>.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34967-BA63-122E-AD3D-5033423F6E48}"/>
              </a:ext>
            </a:extLst>
          </p:cNvPr>
          <p:cNvSpPr txBox="1"/>
          <p:nvPr/>
        </p:nvSpPr>
        <p:spPr>
          <a:xfrm>
            <a:off x="640080" y="1254242"/>
            <a:ext cx="7381568" cy="3561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예측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대상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(I13)과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같은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블록이거나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같은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것을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재는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변수</a:t>
            </a:r>
            <a:endParaRPr sz="1400" b="0" dirty="0">
              <a:solidFill>
                <a:srgbClr val="8A8176"/>
              </a:solidFill>
              <a:latin typeface="Apple SD Gothic Neo"/>
            </a:endParaRPr>
          </a:p>
        </p:txBody>
      </p:sp>
      <p:pic>
        <p:nvPicPr>
          <p:cNvPr id="7" name="Picture 5" descr="D-설명력순위.png">
            <a:extLst>
              <a:ext uri="{FF2B5EF4-FFF2-40B4-BE49-F238E27FC236}">
                <a16:creationId xmlns:a16="http://schemas.microsoft.com/office/drawing/2014/main" id="{7D62F0E0-E6AE-337C-5E6C-E5F3B2F1E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54" y="1711442"/>
            <a:ext cx="7381568" cy="41605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438381-2AA2-5F24-38B9-4DE4E0B52882}"/>
              </a:ext>
            </a:extLst>
          </p:cNvPr>
          <p:cNvSpPr txBox="1"/>
          <p:nvPr/>
        </p:nvSpPr>
        <p:spPr>
          <a:xfrm>
            <a:off x="8305524" y="5287127"/>
            <a:ext cx="3215915" cy="86844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C96F4A"/>
                </a:solidFill>
                <a:latin typeface="Apple SD Gothic Neo"/>
              </a:rPr>
              <a:t>성능을</a:t>
            </a:r>
            <a:r>
              <a:rPr sz="1700" b="1" dirty="0">
                <a:solidFill>
                  <a:srgbClr val="C96F4A"/>
                </a:solidFill>
                <a:latin typeface="Apple SD Gothic Neo"/>
              </a:rPr>
              <a:t> </a:t>
            </a:r>
            <a:r>
              <a:rPr sz="1700" b="1" dirty="0" err="1">
                <a:solidFill>
                  <a:srgbClr val="C96F4A"/>
                </a:solidFill>
                <a:latin typeface="Apple SD Gothic Neo"/>
              </a:rPr>
              <a:t>포기하고</a:t>
            </a:r>
            <a:endParaRPr sz="1700" b="1" dirty="0">
              <a:solidFill>
                <a:srgbClr val="C96F4A"/>
              </a:solidFill>
              <a:latin typeface="Apple SD Gothic Neo"/>
            </a:endParaRP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C96F4A"/>
                </a:solidFill>
                <a:latin typeface="Apple SD Gothic Neo"/>
              </a:rPr>
              <a:t>도구로서의</a:t>
            </a:r>
            <a:r>
              <a:rPr sz="1700" b="1" dirty="0">
                <a:solidFill>
                  <a:srgbClr val="C96F4A"/>
                </a:solidFill>
                <a:latin typeface="Apple SD Gothic Neo"/>
              </a:rPr>
              <a:t> </a:t>
            </a:r>
            <a:r>
              <a:rPr sz="1700" b="1" dirty="0" err="1">
                <a:solidFill>
                  <a:srgbClr val="C96F4A"/>
                </a:solidFill>
                <a:latin typeface="Apple SD Gothic Neo"/>
              </a:rPr>
              <a:t>의미를</a:t>
            </a:r>
            <a:r>
              <a:rPr sz="1700" b="1" dirty="0">
                <a:solidFill>
                  <a:srgbClr val="C96F4A"/>
                </a:solidFill>
                <a:latin typeface="Apple SD Gothic Neo"/>
              </a:rPr>
              <a:t> </a:t>
            </a:r>
            <a:r>
              <a:rPr sz="1700" b="1" dirty="0" err="1">
                <a:solidFill>
                  <a:srgbClr val="C96F4A"/>
                </a:solidFill>
                <a:latin typeface="Apple SD Gothic Neo"/>
              </a:rPr>
              <a:t>택했다</a:t>
            </a:r>
            <a:r>
              <a:rPr sz="1700" b="1" dirty="0">
                <a:solidFill>
                  <a:srgbClr val="C96F4A"/>
                </a:solidFill>
                <a:latin typeface="Apple SD Gothic Ne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561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666E8-1DC7-A17E-D71B-1AF8D1188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분석 결과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— 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정확도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48%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는 모델 탓이 아니다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2DED4A-7133-60AD-1E34-F4E8DC23C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5303302"/>
            <a:ext cx="11280000" cy="1235792"/>
          </a:xfrm>
        </p:spPr>
        <p:txBody>
          <a:bodyPr>
            <a:norm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  <a:ea typeface="+mn-ea"/>
              </a:rPr>
              <a:t>설명변수가 </a:t>
            </a:r>
            <a:r>
              <a:rPr lang="ko-KR" altLang="en-US" sz="1600" b="1" dirty="0" err="1">
                <a:solidFill>
                  <a:srgbClr val="2B2724"/>
                </a:solidFill>
                <a:latin typeface="+mn-ea"/>
                <a:ea typeface="+mn-ea"/>
              </a:rPr>
              <a:t>돌봄부담을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  <a:ea typeface="+mn-ea"/>
              </a:rPr>
              <a:t>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  <a:ea typeface="+mn-ea"/>
              </a:rPr>
              <a:t>5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  <a:ea typeface="+mn-ea"/>
              </a:rPr>
              <a:t>구간으로 가를 만큼의 정보를 담고 있지 않다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  <a:ea typeface="+mn-ea"/>
              </a:rPr>
              <a:t>. 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  <a:ea typeface="+mn-ea"/>
              </a:rPr>
              <a:t>알고리즘을 바꿔도 오르지 않는다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  <a:ea typeface="+mn-ea"/>
              </a:rPr>
              <a:t>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  <a:ea typeface="+mn-ea"/>
              </a:rPr>
              <a:t>그리고 자연스럽게 나뉘는 수는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  <a:ea typeface="+mn-ea"/>
              </a:rPr>
              <a:t>2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  <a:ea typeface="+mn-ea"/>
              </a:rPr>
              <a:t>다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  <a:ea typeface="+mn-ea"/>
              </a:rPr>
              <a:t>— 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  <a:ea typeface="+mn-ea"/>
              </a:rPr>
              <a:t>이 서비스가 답해야 하는 질문도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  <a:ea typeface="+mn-ea"/>
              </a:rPr>
              <a:t>"</a:t>
            </a:r>
            <a:r>
              <a:rPr lang="ko-KR" altLang="en-US" sz="1600" b="1" dirty="0" err="1">
                <a:solidFill>
                  <a:srgbClr val="2B2724"/>
                </a:solidFill>
                <a:latin typeface="+mn-ea"/>
                <a:ea typeface="+mn-ea"/>
              </a:rPr>
              <a:t>고부담이냐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  <a:ea typeface="+mn-ea"/>
              </a:rPr>
              <a:t> 아니냐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  <a:ea typeface="+mn-ea"/>
              </a:rPr>
              <a:t>"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  <a:ea typeface="+mn-ea"/>
              </a:rPr>
              <a:t>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  <a:ea typeface="+mn-ea"/>
              </a:rPr>
              <a:t>.</a:t>
            </a:r>
          </a:p>
          <a:p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DF8EC-EFA5-BB58-33E2-65570EFB7789}"/>
              </a:ext>
            </a:extLst>
          </p:cNvPr>
          <p:cNvSpPr txBox="1"/>
          <p:nvPr/>
        </p:nvSpPr>
        <p:spPr>
          <a:xfrm>
            <a:off x="838200" y="1249409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정답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(y)을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빼고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38개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설명변수만으로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군집을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찾아본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결과</a:t>
            </a:r>
            <a:endParaRPr sz="1400" b="0" dirty="0">
              <a:solidFill>
                <a:srgbClr val="8A8176"/>
              </a:solidFill>
              <a:latin typeface="Apple SD Gothic Neo"/>
            </a:endParaRPr>
          </a:p>
        </p:txBody>
      </p:sp>
      <p:pic>
        <p:nvPicPr>
          <p:cNvPr id="7" name="Picture 5" descr="E-군집화.png">
            <a:extLst>
              <a:ext uri="{FF2B5EF4-FFF2-40B4-BE49-F238E27FC236}">
                <a16:creationId xmlns:a16="http://schemas.microsoft.com/office/drawing/2014/main" id="{EB0DA82F-78D1-DFC4-33F4-E9A2FE53B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9" y="1859253"/>
            <a:ext cx="11353782" cy="313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5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5DE01-7CEC-D3B9-836F-28505CA8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모델 계열 비교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— 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세 후보를 같은 조건에서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FA78E2-75CE-3351-7573-78B343D60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326194"/>
            <a:ext cx="11280000" cy="19535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트리 계열이 진 이유는 데이터 규모에 있다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. 3,000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건에 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5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개 클래스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, 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그중 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"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부담 없음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"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은 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61</a:t>
            </a:r>
            <a:r>
              <a:rPr lang="ko-KR" altLang="en-US" sz="1600" dirty="0" err="1">
                <a:solidFill>
                  <a:srgbClr val="4A443E"/>
                </a:solidFill>
                <a:latin typeface="Apple SD Gothic Neo"/>
              </a:rPr>
              <a:t>건뿐이다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상호작용을 배우기엔 표본이 얇아 단순한 모델이 과적합을 덜 한다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C96F4A"/>
                </a:solidFill>
                <a:latin typeface="Apple SD Gothic Neo"/>
              </a:rPr>
              <a:t>부수 효과가 컸다 </a:t>
            </a:r>
            <a:r>
              <a:rPr lang="en-US" altLang="ko-KR" sz="1600" b="1" dirty="0">
                <a:solidFill>
                  <a:srgbClr val="C96F4A"/>
                </a:solidFill>
                <a:latin typeface="Apple SD Gothic Neo"/>
              </a:rPr>
              <a:t>— </a:t>
            </a:r>
            <a:r>
              <a:rPr lang="ko-KR" altLang="en-US" sz="1600" b="1" dirty="0">
                <a:solidFill>
                  <a:srgbClr val="C96F4A"/>
                </a:solidFill>
                <a:latin typeface="Apple SD Gothic Neo"/>
              </a:rPr>
              <a:t>로지스틱에서는 기여 요인이 근사가 아니라 정확히 분해된다</a:t>
            </a:r>
            <a:r>
              <a:rPr lang="en-US" altLang="ko-KR" sz="1600" b="1" dirty="0">
                <a:solidFill>
                  <a:srgbClr val="C96F4A"/>
                </a:solidFill>
                <a:latin typeface="Apple SD Gothic Neo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altLang="ko-KR" sz="1600" b="1" dirty="0">
                <a:solidFill>
                  <a:srgbClr val="C96F4A"/>
                </a:solidFill>
                <a:latin typeface="Apple SD Gothic Neo"/>
              </a:rPr>
              <a:t>"</a:t>
            </a:r>
            <a:r>
              <a:rPr lang="ko-KR" altLang="en-US" sz="1600" b="1" dirty="0">
                <a:solidFill>
                  <a:srgbClr val="C96F4A"/>
                </a:solidFill>
                <a:latin typeface="Apple SD Gothic Neo"/>
              </a:rPr>
              <a:t>왜 이 판정인가</a:t>
            </a:r>
            <a:r>
              <a:rPr lang="en-US" altLang="ko-KR" sz="1600" b="1" dirty="0">
                <a:solidFill>
                  <a:srgbClr val="C96F4A"/>
                </a:solidFill>
                <a:latin typeface="Apple SD Gothic Neo"/>
              </a:rPr>
              <a:t>"</a:t>
            </a:r>
            <a:r>
              <a:rPr lang="ko-KR" altLang="en-US" sz="1600" b="1" dirty="0">
                <a:solidFill>
                  <a:srgbClr val="C96F4A"/>
                </a:solidFill>
                <a:latin typeface="Apple SD Gothic Neo"/>
              </a:rPr>
              <a:t>를 산술적으로 닫힌 형태로 설명할 수 있다</a:t>
            </a:r>
            <a:r>
              <a:rPr lang="en-US" altLang="ko-KR" sz="1600" b="1" dirty="0">
                <a:solidFill>
                  <a:srgbClr val="C96F4A"/>
                </a:solidFill>
                <a:latin typeface="Apple SD Gothic Neo"/>
              </a:rPr>
              <a:t>.</a:t>
            </a:r>
          </a:p>
          <a:p>
            <a:pPr>
              <a:lnSpc>
                <a:spcPct val="100000"/>
              </a:lnSpc>
            </a:pP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1A7BC-8D0E-5C51-C425-1F737630AE97}"/>
              </a:ext>
            </a:extLst>
          </p:cNvPr>
          <p:cNvSpPr txBox="1"/>
          <p:nvPr/>
        </p:nvSpPr>
        <p:spPr>
          <a:xfrm>
            <a:off x="838200" y="1437241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 dirty="0">
                <a:solidFill>
                  <a:srgbClr val="8A8176"/>
                </a:solidFill>
                <a:latin typeface="Apple SD Gothic Neo"/>
              </a:rPr>
              <a:t>38변수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전체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·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같은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5-fold ·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같은</a:t>
            </a:r>
            <a:r>
              <a:rPr sz="1400" b="0" dirty="0">
                <a:solidFill>
                  <a:srgbClr val="8A8176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Apple SD Gothic Neo"/>
              </a:rPr>
              <a:t>지표</a:t>
            </a:r>
            <a:endParaRPr sz="1400" b="0" dirty="0">
              <a:solidFill>
                <a:srgbClr val="8A8176"/>
              </a:solidFill>
              <a:latin typeface="Apple SD Gothic Neo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3E7AD05-E90C-226E-157F-93B860C9F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00705"/>
              </p:ext>
            </p:extLst>
          </p:nvPr>
        </p:nvGraphicFramePr>
        <p:xfrm>
          <a:off x="838200" y="1973099"/>
          <a:ext cx="10515600" cy="1857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8832">
                  <a:extLst>
                    <a:ext uri="{9D8B030D-6E8A-4147-A177-3AD203B41FA5}">
                      <a16:colId xmlns:a16="http://schemas.microsoft.com/office/drawing/2014/main" val="2941173065"/>
                    </a:ext>
                  </a:extLst>
                </a:gridCol>
                <a:gridCol w="2536723">
                  <a:extLst>
                    <a:ext uri="{9D8B030D-6E8A-4147-A177-3AD203B41FA5}">
                      <a16:colId xmlns:a16="http://schemas.microsoft.com/office/drawing/2014/main" val="1698345176"/>
                    </a:ext>
                  </a:extLst>
                </a:gridCol>
                <a:gridCol w="2635045">
                  <a:extLst>
                    <a:ext uri="{9D8B030D-6E8A-4147-A177-3AD203B41FA5}">
                      <a16:colId xmlns:a16="http://schemas.microsoft.com/office/drawing/2014/main" val="82537241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698088945"/>
                    </a:ext>
                  </a:extLst>
                </a:gridCol>
              </a:tblGrid>
              <a:tr h="3969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>
                          <a:solidFill>
                            <a:srgbClr val="2B2724"/>
                          </a:solidFill>
                        </a:rPr>
                        <a:t>계열</a:t>
                      </a:r>
                      <a:endParaRPr lang="ko-KR" altLang="en-US" sz="1800" dirty="0"/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2B2724"/>
                          </a:solidFill>
                        </a:rPr>
                        <a:t>macro F1</a:t>
                      </a:r>
                      <a:endParaRPr lang="en-US" altLang="ko-KR" sz="1800" b="1" dirty="0">
                        <a:solidFill>
                          <a:srgbClr val="2B2724"/>
                        </a:solidFill>
                        <a:latin typeface="Apple SD Gothic Neo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 err="1">
                          <a:solidFill>
                            <a:srgbClr val="2B2724"/>
                          </a:solidFill>
                        </a:rPr>
                        <a:t>고부담</a:t>
                      </a:r>
                      <a:r>
                        <a:rPr lang="ko-KR" altLang="en-US" sz="1800" b="1" dirty="0">
                          <a:solidFill>
                            <a:srgbClr val="2B2724"/>
                          </a:solidFill>
                        </a:rPr>
                        <a:t> </a:t>
                      </a:r>
                      <a:r>
                        <a:rPr lang="ko-KR" altLang="en-US" sz="1800" b="1" dirty="0" err="1">
                          <a:solidFill>
                            <a:srgbClr val="2B2724"/>
                          </a:solidFill>
                        </a:rPr>
                        <a:t>재현율</a:t>
                      </a:r>
                      <a:endParaRPr lang="ko-KR" altLang="en-US" sz="1800" b="1" dirty="0">
                        <a:solidFill>
                          <a:srgbClr val="2B2724"/>
                        </a:solidFill>
                        <a:latin typeface="Apple SD Gothic Neo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747369"/>
                  </a:ext>
                </a:extLst>
              </a:tr>
              <a:tr h="55253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다항 로지스틱 회귀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0.3180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0.7636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채택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4058010"/>
                  </a:ext>
                </a:extLst>
              </a:tr>
              <a:tr h="45413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랜덤 포레스트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0.2894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0.7552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906082"/>
                  </a:ext>
                </a:extLst>
              </a:tr>
              <a:tr h="45413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엑스트라 트리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0.2668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0.7544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15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30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315E4-CB91-B7A4-ED9D-42870542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설문 문항을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7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개로 정한 기준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AE2B4A-D713-72C8-5B6F-25EDEB68D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238251"/>
            <a:ext cx="4082168" cy="4952999"/>
          </a:xfrm>
        </p:spPr>
        <p:txBody>
          <a:bodyPr>
            <a:normAutofit/>
          </a:bodyPr>
          <a:lstStyle/>
          <a:p>
            <a:pPr marL="0" indent="0">
              <a:lnSpc>
                <a:spcPct val="135000"/>
              </a:lnSpc>
              <a:spcAft>
                <a:spcPts val="300"/>
              </a:spcAft>
              <a:buNone/>
            </a:pPr>
            <a:r>
              <a:rPr lang="ko-KR" altLang="en-US" dirty="0">
                <a:solidFill>
                  <a:srgbClr val="4A443E"/>
                </a:solidFill>
                <a:latin typeface="Apple SD Gothic Neo"/>
              </a:rPr>
              <a:t>후진 제거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1  38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개 전체로 기준 모델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2  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덜 기여하는 변수를 하나씩 제거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3  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뺄 때마다 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5-fold 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로 측정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4  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아래를 깨는 순간 정지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        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F1 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손실 ≤ 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0.03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        </a:t>
            </a:r>
            <a:r>
              <a:rPr lang="ko-KR" altLang="en-US" sz="1600" dirty="0" err="1">
                <a:solidFill>
                  <a:srgbClr val="4A443E"/>
                </a:solidFill>
                <a:latin typeface="Apple SD Gothic Neo"/>
              </a:rPr>
              <a:t>재현율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 손실 ≤ 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0.05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        </a:t>
            </a:r>
            <a:r>
              <a:rPr lang="ko-KR" altLang="en-US" sz="1600" dirty="0" err="1">
                <a:solidFill>
                  <a:srgbClr val="4A443E"/>
                </a:solidFill>
                <a:latin typeface="Apple SD Gothic Neo"/>
              </a:rPr>
              <a:t>재현율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 ≥ </a:t>
            </a: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0.70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Apple SD Gothic Neo"/>
              </a:rPr>
              <a:t>5  </a:t>
            </a:r>
            <a:r>
              <a:rPr lang="ko-KR" altLang="en-US" sz="1600" dirty="0">
                <a:solidFill>
                  <a:srgbClr val="4A443E"/>
                </a:solidFill>
                <a:latin typeface="Apple SD Gothic Neo"/>
              </a:rPr>
              <a:t>최소 집합 채택</a:t>
            </a:r>
            <a:endParaRPr lang="ko-KR" altLang="en-US" sz="1600" dirty="0"/>
          </a:p>
        </p:txBody>
      </p:sp>
      <p:pic>
        <p:nvPicPr>
          <p:cNvPr id="5" name="Picture 6" descr="C-문항수곡선.png">
            <a:extLst>
              <a:ext uri="{FF2B5EF4-FFF2-40B4-BE49-F238E27FC236}">
                <a16:creationId xmlns:a16="http://schemas.microsoft.com/office/drawing/2014/main" id="{2C6DC147-57E7-24D6-FA2D-BD7F0E58E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440" y="1739341"/>
            <a:ext cx="6766560" cy="38138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95058D-86F4-D191-F817-90BAA2E8047A}"/>
              </a:ext>
            </a:extLst>
          </p:cNvPr>
          <p:cNvSpPr txBox="1"/>
          <p:nvPr/>
        </p:nvSpPr>
        <p:spPr>
          <a:xfrm>
            <a:off x="5378245" y="1304780"/>
            <a:ext cx="6530400" cy="3496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8A8176"/>
                </a:solidFill>
                <a:latin typeface="+mj-lt"/>
              </a:rPr>
              <a:t>단독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설명력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순위로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자르지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않았다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—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변수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간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중복을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반영하지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못하기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때문</a:t>
            </a:r>
            <a:endParaRPr sz="1400" b="0" dirty="0">
              <a:solidFill>
                <a:srgbClr val="8A8176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23053-4696-4D26-D634-F0FB7266BE0D}"/>
              </a:ext>
            </a:extLst>
          </p:cNvPr>
          <p:cNvSpPr txBox="1"/>
          <p:nvPr/>
        </p:nvSpPr>
        <p:spPr>
          <a:xfrm>
            <a:off x="480000" y="6217314"/>
            <a:ext cx="11280000" cy="42492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b="1" dirty="0" err="1">
                <a:solidFill>
                  <a:srgbClr val="C96F4A"/>
                </a:solidFill>
                <a:latin typeface="+mn-ea"/>
              </a:rPr>
              <a:t>성능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손실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허용치를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먼저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정하고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문항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수를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결과로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얻었다</a:t>
            </a:r>
            <a:r>
              <a:rPr b="1" dirty="0">
                <a:solidFill>
                  <a:srgbClr val="C96F4A"/>
                </a:solidFill>
                <a:latin typeface="+mn-ea"/>
              </a:rPr>
              <a:t>. "30문항으로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하자</a:t>
            </a:r>
            <a:r>
              <a:rPr b="1" dirty="0">
                <a:solidFill>
                  <a:srgbClr val="C96F4A"/>
                </a:solidFill>
                <a:latin typeface="+mn-ea"/>
              </a:rPr>
              <a:t>"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같은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사전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결정을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하지</a:t>
            </a:r>
            <a:r>
              <a:rPr b="1" dirty="0">
                <a:solidFill>
                  <a:srgbClr val="C96F4A"/>
                </a:solidFill>
                <a:latin typeface="+mn-ea"/>
              </a:rPr>
              <a:t> </a:t>
            </a:r>
            <a:r>
              <a:rPr b="1" dirty="0" err="1">
                <a:solidFill>
                  <a:srgbClr val="C96F4A"/>
                </a:solidFill>
                <a:latin typeface="+mn-ea"/>
              </a:rPr>
              <a:t>않았다</a:t>
            </a:r>
            <a:r>
              <a:rPr b="1" dirty="0">
                <a:solidFill>
                  <a:srgbClr val="C96F4A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2547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88E4E-B47B-2F9F-686C-A7DE8BF41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기준이 옳았는가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— 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혼동행렬로 확인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A51E6E-4711-B0A5-C602-54C114282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5476568"/>
            <a:ext cx="11280000" cy="12357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38 → 7: 31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개를 버렸는데 오류 구조가 그대로다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재현율은 오히려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0.764 → 0.784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로 올랐다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그런데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2×2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로만 보면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6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문항도 멀쩡해 보인다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600" dirty="0" err="1">
                <a:solidFill>
                  <a:srgbClr val="4A443E"/>
                </a:solidFill>
                <a:latin typeface="+mn-ea"/>
              </a:rPr>
              <a:t>재현율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0.785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로 더 높다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왜 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6</a:t>
            </a: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에서 멈췄는지는 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5</a:t>
            </a: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구간으로 봐야 드러난다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. →</a:t>
            </a:r>
          </a:p>
          <a:p>
            <a:endParaRPr lang="ko-KR" altLang="en-US" sz="1600" dirty="0"/>
          </a:p>
        </p:txBody>
      </p:sp>
      <p:pic>
        <p:nvPicPr>
          <p:cNvPr id="9" name="Picture 5" descr="B-혼동행렬2x2.png">
            <a:extLst>
              <a:ext uri="{FF2B5EF4-FFF2-40B4-BE49-F238E27FC236}">
                <a16:creationId xmlns:a16="http://schemas.microsoft.com/office/drawing/2014/main" id="{4F08B546-A032-9ED8-3895-DE6697BD6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3329"/>
            <a:ext cx="10515600" cy="35886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A94B29-2E39-7D4A-F2ED-2E004F45F741}"/>
              </a:ext>
            </a:extLst>
          </p:cNvPr>
          <p:cNvSpPr txBox="1"/>
          <p:nvPr/>
        </p:nvSpPr>
        <p:spPr>
          <a:xfrm>
            <a:off x="456000" y="1206366"/>
            <a:ext cx="7531510" cy="349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lang="ko-KR" altLang="en-US" sz="1400" b="0" dirty="0">
                <a:solidFill>
                  <a:srgbClr val="8A8176"/>
                </a:solidFill>
                <a:latin typeface="+mj-ea"/>
                <a:ea typeface="+mj-ea"/>
              </a:rPr>
              <a:t>선정 기준은 정지 조건이지만</a:t>
            </a:r>
            <a:r>
              <a:rPr lang="en-US" altLang="ko-KR" sz="1400" b="0" dirty="0">
                <a:solidFill>
                  <a:srgbClr val="8A8176"/>
                </a:solidFill>
                <a:latin typeface="+mj-ea"/>
                <a:ea typeface="+mj-ea"/>
              </a:rPr>
              <a:t>, </a:t>
            </a:r>
            <a:r>
              <a:rPr lang="ko-KR" altLang="en-US" sz="1400" b="0" dirty="0">
                <a:solidFill>
                  <a:srgbClr val="8A8176"/>
                </a:solidFill>
                <a:latin typeface="+mj-ea"/>
                <a:ea typeface="+mj-ea"/>
              </a:rPr>
              <a:t>그 조건이 옳았음을 보여주는 것은 혼동행렬이다</a:t>
            </a:r>
          </a:p>
        </p:txBody>
      </p:sp>
    </p:spTree>
    <p:extLst>
      <p:ext uri="{BB962C8B-B14F-4D97-AF65-F5344CB8AC3E}">
        <p14:creationId xmlns:p14="http://schemas.microsoft.com/office/powerpoint/2010/main" val="679306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B-혼동행렬5x5.png">
            <a:extLst>
              <a:ext uri="{FF2B5EF4-FFF2-40B4-BE49-F238E27FC236}">
                <a16:creationId xmlns:a16="http://schemas.microsoft.com/office/drawing/2014/main" id="{3A8BE12A-0202-9682-DB5C-E1B645EA1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63" y="1632231"/>
            <a:ext cx="9477274" cy="414630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8D1705D-7F36-ECEA-74F3-537E6BFA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6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문항은 최고부담군을 거의 못 찍는다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C3EA99-0F20-4263-A6B5-759E7D83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5876860"/>
            <a:ext cx="11280000" cy="8917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최고부담군 </a:t>
            </a:r>
            <a:r>
              <a:rPr lang="ko-KR" altLang="en-US" sz="1600" b="1" dirty="0" err="1">
                <a:solidFill>
                  <a:srgbClr val="2B2724"/>
                </a:solidFill>
                <a:latin typeface="+mn-ea"/>
              </a:rPr>
              <a:t>재현율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0.183 → 0.054.  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예측 건수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147 → 44.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전체 정확도는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0.463 → 0.458 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로 거의 같은데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가장 도움이 절실한 구간을 가려내는 능력만 사라진다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AFF5B-4326-4A4B-D062-41B755DE0BC7}"/>
              </a:ext>
            </a:extLst>
          </p:cNvPr>
          <p:cNvSpPr txBox="1"/>
          <p:nvPr/>
        </p:nvSpPr>
        <p:spPr>
          <a:xfrm>
            <a:off x="1444359" y="1177785"/>
            <a:ext cx="9303282" cy="356123"/>
          </a:xfrm>
          <a:prstGeom prst="rect">
            <a:avLst/>
          </a:prstGeom>
          <a:solidFill>
            <a:srgbClr val="FFFAF5"/>
          </a:solidFill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 dirty="0">
                <a:solidFill>
                  <a:srgbClr val="8A8176"/>
                </a:solidFill>
                <a:latin typeface="+mj-lt"/>
              </a:rPr>
              <a:t>2×2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로는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같아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보이지만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5구간으로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보면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다르다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· </a:t>
            </a:r>
            <a:r>
              <a:rPr sz="1400" b="0" dirty="0" err="1">
                <a:solidFill>
                  <a:srgbClr val="8A8176"/>
                </a:solidFill>
                <a:latin typeface="+mj-lt"/>
              </a:rPr>
              <a:t>교차검증</a:t>
            </a:r>
            <a:r>
              <a:rPr sz="1400" b="0" dirty="0">
                <a:solidFill>
                  <a:srgbClr val="8A8176"/>
                </a:solidFill>
                <a:latin typeface="+mj-lt"/>
              </a:rPr>
              <a:t> 2,398건</a:t>
            </a:r>
          </a:p>
        </p:txBody>
      </p:sp>
    </p:spTree>
    <p:extLst>
      <p:ext uri="{BB962C8B-B14F-4D97-AF65-F5344CB8AC3E}">
        <p14:creationId xmlns:p14="http://schemas.microsoft.com/office/powerpoint/2010/main" val="292987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B4B15-A5C0-501A-C282-F0740C59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채택된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7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문항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3F856A-5C4F-EBC7-6514-23BE77185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5161935"/>
            <a:ext cx="11280000" cy="1147302"/>
          </a:xfrm>
        </p:spPr>
        <p:txBody>
          <a:bodyPr>
            <a:norm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단독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1·2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위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(G6·F1)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는 살아남았지만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3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위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통상근로 가능 여부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)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는 탈락했다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F1(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근로 의미 이해도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)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과 정보가 겹쳤기 때문이다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후진 제거가 중복을 걸러낸 결과다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AB721B8-E6F0-1D3A-8CB3-3A1FFB560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699699"/>
              </p:ext>
            </p:extLst>
          </p:nvPr>
        </p:nvGraphicFramePr>
        <p:xfrm>
          <a:off x="838200" y="1717460"/>
          <a:ext cx="10515600" cy="30118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813">
                  <a:extLst>
                    <a:ext uri="{9D8B030D-6E8A-4147-A177-3AD203B41FA5}">
                      <a16:colId xmlns:a16="http://schemas.microsoft.com/office/drawing/2014/main" val="2941173065"/>
                    </a:ext>
                  </a:extLst>
                </a:gridCol>
                <a:gridCol w="1484671">
                  <a:extLst>
                    <a:ext uri="{9D8B030D-6E8A-4147-A177-3AD203B41FA5}">
                      <a16:colId xmlns:a16="http://schemas.microsoft.com/office/drawing/2014/main" val="1698345176"/>
                    </a:ext>
                  </a:extLst>
                </a:gridCol>
                <a:gridCol w="6489290">
                  <a:extLst>
                    <a:ext uri="{9D8B030D-6E8A-4147-A177-3AD203B41FA5}">
                      <a16:colId xmlns:a16="http://schemas.microsoft.com/office/drawing/2014/main" val="825372412"/>
                    </a:ext>
                  </a:extLst>
                </a:gridCol>
                <a:gridCol w="1973826">
                  <a:extLst>
                    <a:ext uri="{9D8B030D-6E8A-4147-A177-3AD203B41FA5}">
                      <a16:colId xmlns:a16="http://schemas.microsoft.com/office/drawing/2014/main" val="698088945"/>
                    </a:ext>
                  </a:extLst>
                </a:gridCol>
              </a:tblGrid>
              <a:tr h="489464"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원 문항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질문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단독 설명력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747369"/>
                  </a:ext>
                </a:extLst>
              </a:tr>
              <a:tr h="3603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G8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당사자는 요즘 하루하루의 일과를 어떻게 느끼고 있나요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3.51%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4058010"/>
                  </a:ext>
                </a:extLst>
              </a:tr>
              <a:tr h="3603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F5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당사자의 취업에 대해 가족들이 어느 정도 지지하고 있나요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3.94%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7906082"/>
                  </a:ext>
                </a:extLst>
              </a:tr>
              <a:tr h="3603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G6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하루 중 어느 정도의 도움이 필요한가요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8.23%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707513"/>
                  </a:ext>
                </a:extLst>
              </a:tr>
              <a:tr h="3603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I4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가구의 생계를 주로 책임지는 분은 누구인가요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1.67%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4362984"/>
                  </a:ext>
                </a:extLst>
              </a:tr>
              <a:tr h="3603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E4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마지막 일자리를 그만둔 가장 큰 이유는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1.15%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7019366"/>
                  </a:ext>
                </a:extLst>
              </a:tr>
              <a:tr h="3603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A1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응답하시는 분은 당사자와 어떤 관계인가요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1.18%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2115518"/>
                  </a:ext>
                </a:extLst>
              </a:tr>
              <a:tr h="3603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F1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일을 한다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는 것의 의미를 어느 정도 이해하나요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7.98%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2115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03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D0C47-5A97-65EC-15D7-FB757370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문항을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14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개로 늘려 봤다가 되돌렸다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9049C7-8D5F-73A0-4349-29A765AE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5308919"/>
            <a:ext cx="6898529" cy="135377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원인은 나이 변수다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보호자 나이는 한 살 단위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78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 범주라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"57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세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는 학습 데이터의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1.3%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뿐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희소한 조합으로 분류되어 판정 불가가 된다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5" name="Picture 5" descr="F-판정불가비교.png">
            <a:extLst>
              <a:ext uri="{FF2B5EF4-FFF2-40B4-BE49-F238E27FC236}">
                <a16:creationId xmlns:a16="http://schemas.microsoft.com/office/drawing/2014/main" id="{A7B7FE14-026A-D446-FEF6-319BC782F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08" y="1673559"/>
            <a:ext cx="10515600" cy="3588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3B143A-BF2C-A3F9-6618-E4F62CA9B238}"/>
              </a:ext>
            </a:extLst>
          </p:cNvPr>
          <p:cNvSpPr txBox="1"/>
          <p:nvPr/>
        </p:nvSpPr>
        <p:spPr>
          <a:xfrm>
            <a:off x="685308" y="1275862"/>
            <a:ext cx="10515600" cy="35099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 dirty="0">
                <a:solidFill>
                  <a:srgbClr val="8A8176"/>
                </a:solidFill>
                <a:latin typeface="+mj-ea"/>
                <a:ea typeface="+mj-ea"/>
              </a:rPr>
              <a:t>7문항으로 "</a:t>
            </a:r>
            <a:r>
              <a:rPr sz="1400" b="0" dirty="0" err="1">
                <a:solidFill>
                  <a:srgbClr val="8A8176"/>
                </a:solidFill>
                <a:latin typeface="+mj-ea"/>
                <a:ea typeface="+mj-ea"/>
              </a:rPr>
              <a:t>고부담군입니다"라고</a:t>
            </a:r>
            <a:r>
              <a:rPr sz="1400" b="0" dirty="0">
                <a:solidFill>
                  <a:srgbClr val="8A8176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ea"/>
                <a:ea typeface="+mj-ea"/>
              </a:rPr>
              <a:t>하면</a:t>
            </a:r>
            <a:r>
              <a:rPr sz="1400" b="0" dirty="0">
                <a:solidFill>
                  <a:srgbClr val="8A8176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ea"/>
                <a:ea typeface="+mj-ea"/>
              </a:rPr>
              <a:t>신뢰하기</a:t>
            </a:r>
            <a:r>
              <a:rPr sz="1400" b="0" dirty="0">
                <a:solidFill>
                  <a:srgbClr val="8A8176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ea"/>
                <a:ea typeface="+mj-ea"/>
              </a:rPr>
              <a:t>어렵다는</a:t>
            </a:r>
            <a:r>
              <a:rPr sz="1400" b="0" dirty="0">
                <a:solidFill>
                  <a:srgbClr val="8A8176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ea"/>
                <a:ea typeface="+mj-ea"/>
              </a:rPr>
              <a:t>판단에서</a:t>
            </a:r>
            <a:r>
              <a:rPr sz="1400" b="0" dirty="0">
                <a:solidFill>
                  <a:srgbClr val="8A8176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j-ea"/>
                <a:ea typeface="+mj-ea"/>
              </a:rPr>
              <a:t>출발했다</a:t>
            </a:r>
            <a:endParaRPr sz="1400" b="0" dirty="0">
              <a:solidFill>
                <a:srgbClr val="8A8176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D4BA0A-A632-A428-D275-A4D90686ED74}"/>
              </a:ext>
            </a:extLst>
          </p:cNvPr>
          <p:cNvSpPr txBox="1"/>
          <p:nvPr/>
        </p:nvSpPr>
        <p:spPr>
          <a:xfrm>
            <a:off x="7354529" y="5359996"/>
            <a:ext cx="4206240" cy="6258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dirty="0" err="1">
                <a:solidFill>
                  <a:srgbClr val="C96F4A"/>
                </a:solidFill>
                <a:latin typeface="+mn-ea"/>
              </a:rPr>
              <a:t>응답</a:t>
            </a:r>
            <a:r>
              <a:rPr sz="1400" b="1" dirty="0">
                <a:solidFill>
                  <a:srgbClr val="C96F4A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C96F4A"/>
                </a:solidFill>
                <a:latin typeface="+mn-ea"/>
              </a:rPr>
              <a:t>부담은</a:t>
            </a:r>
            <a:r>
              <a:rPr sz="1400" b="1" dirty="0">
                <a:solidFill>
                  <a:srgbClr val="C96F4A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C96F4A"/>
                </a:solidFill>
                <a:latin typeface="+mn-ea"/>
              </a:rPr>
              <a:t>늘리고</a:t>
            </a:r>
            <a:r>
              <a:rPr sz="1400" b="1" dirty="0">
                <a:solidFill>
                  <a:srgbClr val="C96F4A"/>
                </a:solidFill>
                <a:latin typeface="+mn-ea"/>
              </a:rPr>
              <a:t>, </a:t>
            </a:r>
            <a:r>
              <a:rPr sz="1400" b="1" dirty="0" err="1">
                <a:solidFill>
                  <a:srgbClr val="C96F4A"/>
                </a:solidFill>
                <a:latin typeface="+mn-ea"/>
              </a:rPr>
              <a:t>결과를</a:t>
            </a:r>
            <a:r>
              <a:rPr sz="1400" b="1" dirty="0">
                <a:solidFill>
                  <a:srgbClr val="C96F4A"/>
                </a:solidFill>
                <a:latin typeface="+mn-ea"/>
              </a:rPr>
              <a:t> 못 </a:t>
            </a:r>
            <a:r>
              <a:rPr sz="1400" b="1" dirty="0" err="1">
                <a:solidFill>
                  <a:srgbClr val="C96F4A"/>
                </a:solidFill>
                <a:latin typeface="+mn-ea"/>
              </a:rPr>
              <a:t>받는</a:t>
            </a:r>
            <a:r>
              <a:rPr sz="1400" b="1" dirty="0">
                <a:solidFill>
                  <a:srgbClr val="C96F4A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C96F4A"/>
                </a:solidFill>
                <a:latin typeface="+mn-ea"/>
              </a:rPr>
              <a:t>사람도</a:t>
            </a:r>
            <a:r>
              <a:rPr sz="1400" b="1" dirty="0">
                <a:solidFill>
                  <a:srgbClr val="C96F4A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C96F4A"/>
                </a:solidFill>
                <a:latin typeface="+mn-ea"/>
              </a:rPr>
              <a:t>늘렸으며</a:t>
            </a:r>
            <a:r>
              <a:rPr sz="1400" b="1" dirty="0">
                <a:solidFill>
                  <a:srgbClr val="C96F4A"/>
                </a:solidFill>
                <a:latin typeface="+mn-ea"/>
              </a:rPr>
              <a:t>,</a:t>
            </a:r>
          </a:p>
          <a:p>
            <a:pPr algn="l">
              <a:spcAft>
                <a:spcPts val="800"/>
              </a:spcAft>
            </a:pPr>
            <a:r>
              <a:rPr sz="1400" b="1" dirty="0" err="1">
                <a:solidFill>
                  <a:srgbClr val="C96F4A"/>
                </a:solidFill>
                <a:latin typeface="+mn-ea"/>
              </a:rPr>
              <a:t>정확도는</a:t>
            </a:r>
            <a:r>
              <a:rPr sz="1400" b="1" dirty="0">
                <a:solidFill>
                  <a:srgbClr val="C96F4A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C96F4A"/>
                </a:solidFill>
                <a:latin typeface="+mn-ea"/>
              </a:rPr>
              <a:t>얻지</a:t>
            </a:r>
            <a:r>
              <a:rPr sz="1400" b="1" dirty="0">
                <a:solidFill>
                  <a:srgbClr val="C96F4A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C96F4A"/>
                </a:solidFill>
                <a:latin typeface="+mn-ea"/>
              </a:rPr>
              <a:t>못했다</a:t>
            </a:r>
            <a:r>
              <a:rPr sz="1400" b="1" dirty="0">
                <a:solidFill>
                  <a:srgbClr val="C96F4A"/>
                </a:solidFill>
                <a:latin typeface="+mn-ea"/>
              </a:rPr>
              <a:t> → 7문항 </a:t>
            </a:r>
            <a:r>
              <a:rPr sz="1400" b="1" dirty="0" err="1">
                <a:solidFill>
                  <a:srgbClr val="C96F4A"/>
                </a:solidFill>
                <a:latin typeface="+mn-ea"/>
              </a:rPr>
              <a:t>복귀</a:t>
            </a:r>
            <a:endParaRPr sz="1400" b="1" dirty="0">
              <a:solidFill>
                <a:srgbClr val="C96F4A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0686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2F42C-1A87-D23E-BA9E-4A8EA2D1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성능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— 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무엇을 할 수 있고 무엇을 못 하나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6995B1-9F76-CFF6-B685-5A9293746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4463415"/>
            <a:ext cx="11280000" cy="16979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실제 </a:t>
            </a:r>
            <a:r>
              <a:rPr lang="ko-KR" altLang="en-US" sz="1600" b="1" dirty="0" err="1">
                <a:solidFill>
                  <a:srgbClr val="2B2724"/>
                </a:solidFill>
                <a:latin typeface="+mn-ea"/>
              </a:rPr>
              <a:t>고부담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 보호자의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77.3%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를 잡아낸다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그리고 고부담인 사람을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부담 없음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으로 판정한 경우는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test 602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건 중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0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건이다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dirty="0">
                <a:solidFill>
                  <a:srgbClr val="8A8176"/>
                </a:solidFill>
                <a:latin typeface="+mn-ea"/>
              </a:rPr>
              <a:t>설계로 만든 결과다 </a:t>
            </a:r>
            <a:r>
              <a:rPr lang="en-US" altLang="ko-KR" sz="1600" dirty="0">
                <a:solidFill>
                  <a:srgbClr val="8A8176"/>
                </a:solidFill>
                <a:latin typeface="+mn-ea"/>
              </a:rPr>
              <a:t>— </a:t>
            </a:r>
            <a:r>
              <a:rPr lang="ko-KR" altLang="en-US" sz="1600" dirty="0">
                <a:solidFill>
                  <a:srgbClr val="8A8176"/>
                </a:solidFill>
                <a:latin typeface="+mn-ea"/>
              </a:rPr>
              <a:t>판정 시 </a:t>
            </a:r>
            <a:r>
              <a:rPr lang="en-US" altLang="ko-KR" sz="1600" dirty="0">
                <a:solidFill>
                  <a:srgbClr val="8A8176"/>
                </a:solidFill>
                <a:latin typeface="+mn-ea"/>
              </a:rPr>
              <a:t>1·2</a:t>
            </a:r>
            <a:r>
              <a:rPr lang="ko-KR" altLang="en-US" sz="1600" dirty="0">
                <a:solidFill>
                  <a:srgbClr val="8A8176"/>
                </a:solidFill>
                <a:latin typeface="+mn-ea"/>
              </a:rPr>
              <a:t>단계 확률에 </a:t>
            </a:r>
            <a:r>
              <a:rPr lang="en-US" altLang="ko-KR" sz="1600" dirty="0">
                <a:solidFill>
                  <a:srgbClr val="8A8176"/>
                </a:solidFill>
                <a:latin typeface="+mn-ea"/>
              </a:rPr>
              <a:t>1.1</a:t>
            </a:r>
            <a:r>
              <a:rPr lang="ko-KR" altLang="en-US" sz="1600" dirty="0">
                <a:solidFill>
                  <a:srgbClr val="8A8176"/>
                </a:solidFill>
                <a:latin typeface="+mn-ea"/>
              </a:rPr>
              <a:t>배를 곱한다</a:t>
            </a:r>
            <a:r>
              <a:rPr lang="en-US" altLang="ko-KR" sz="1600" dirty="0">
                <a:solidFill>
                  <a:srgbClr val="8A8176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dirty="0">
                <a:solidFill>
                  <a:srgbClr val="8A8176"/>
                </a:solidFill>
                <a:latin typeface="+mn-ea"/>
              </a:rPr>
              <a:t>이 값은 사람이 고른 것이 아니라 </a:t>
            </a:r>
            <a:r>
              <a:rPr lang="en-US" altLang="ko-KR" sz="1600" dirty="0">
                <a:solidFill>
                  <a:srgbClr val="8A8176"/>
                </a:solidFill>
                <a:latin typeface="+mn-ea"/>
              </a:rPr>
              <a:t>"</a:t>
            </a:r>
            <a:r>
              <a:rPr lang="ko-KR" altLang="en-US" sz="1600" dirty="0" err="1">
                <a:solidFill>
                  <a:srgbClr val="8A8176"/>
                </a:solidFill>
                <a:latin typeface="+mn-ea"/>
              </a:rPr>
              <a:t>재현율</a:t>
            </a:r>
            <a:r>
              <a:rPr lang="ko-KR" altLang="en-US" sz="1600" dirty="0">
                <a:solidFill>
                  <a:srgbClr val="8A8176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rgbClr val="8A8176"/>
                </a:solidFill>
                <a:latin typeface="+mn-ea"/>
              </a:rPr>
              <a:t>0.73 </a:t>
            </a:r>
            <a:r>
              <a:rPr lang="ko-KR" altLang="en-US" sz="1600" dirty="0">
                <a:solidFill>
                  <a:srgbClr val="8A8176"/>
                </a:solidFill>
                <a:latin typeface="+mn-ea"/>
              </a:rPr>
              <a:t>이상 중 </a:t>
            </a:r>
            <a:r>
              <a:rPr lang="en-US" altLang="ko-KR" sz="1600" dirty="0">
                <a:solidFill>
                  <a:srgbClr val="8A8176"/>
                </a:solidFill>
                <a:latin typeface="+mn-ea"/>
              </a:rPr>
              <a:t>macro F1 </a:t>
            </a:r>
            <a:r>
              <a:rPr lang="ko-KR" altLang="en-US" sz="1600" dirty="0">
                <a:solidFill>
                  <a:srgbClr val="8A8176"/>
                </a:solidFill>
                <a:latin typeface="+mn-ea"/>
              </a:rPr>
              <a:t>최대</a:t>
            </a:r>
            <a:r>
              <a:rPr lang="en-US" altLang="ko-KR" sz="1600" dirty="0">
                <a:solidFill>
                  <a:srgbClr val="8A8176"/>
                </a:solidFill>
                <a:latin typeface="+mn-ea"/>
              </a:rPr>
              <a:t>" </a:t>
            </a:r>
            <a:r>
              <a:rPr lang="ko-KR" altLang="en-US" sz="1600" dirty="0">
                <a:solidFill>
                  <a:srgbClr val="8A8176"/>
                </a:solidFill>
                <a:latin typeface="+mn-ea"/>
              </a:rPr>
              <a:t>규칙이 자동으로 찾았다</a:t>
            </a:r>
            <a:r>
              <a:rPr lang="en-US" altLang="ko-KR" sz="1600" dirty="0">
                <a:solidFill>
                  <a:srgbClr val="8A8176"/>
                </a:solidFill>
                <a:latin typeface="+mn-ea"/>
              </a:rPr>
              <a:t>.</a:t>
            </a:r>
            <a:endParaRPr lang="en-US" altLang="ko-KR" sz="1600" b="1" dirty="0">
              <a:solidFill>
                <a:srgbClr val="2B2724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547BC-20E6-C1B6-01A8-FC25C3404552}"/>
              </a:ext>
            </a:extLst>
          </p:cNvPr>
          <p:cNvSpPr txBox="1"/>
          <p:nvPr/>
        </p:nvSpPr>
        <p:spPr>
          <a:xfrm>
            <a:off x="842624" y="1368650"/>
            <a:ext cx="5029200" cy="223375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1" dirty="0">
                <a:solidFill>
                  <a:srgbClr val="8A8176"/>
                </a:solidFill>
                <a:latin typeface="+mn-ea"/>
              </a:rPr>
              <a:t>5구간은 </a:t>
            </a:r>
            <a:r>
              <a:rPr sz="2000" b="1" dirty="0" err="1">
                <a:solidFill>
                  <a:srgbClr val="8A8176"/>
                </a:solidFill>
                <a:latin typeface="+mn-ea"/>
              </a:rPr>
              <a:t>정확히</a:t>
            </a:r>
            <a:r>
              <a:rPr sz="2000" b="1" dirty="0">
                <a:solidFill>
                  <a:srgbClr val="8A8176"/>
                </a:solidFill>
                <a:latin typeface="+mn-ea"/>
              </a:rPr>
              <a:t> 못 </a:t>
            </a:r>
            <a:r>
              <a:rPr sz="2000" b="1" dirty="0" err="1">
                <a:solidFill>
                  <a:srgbClr val="8A8176"/>
                </a:solidFill>
                <a:latin typeface="+mn-ea"/>
              </a:rPr>
              <a:t>맞힌다</a:t>
            </a:r>
            <a:endParaRPr lang="en-US" sz="2000" b="1" dirty="0">
              <a:solidFill>
                <a:srgbClr val="8A8176"/>
              </a:solidFill>
              <a:latin typeface="+mn-ea"/>
            </a:endParaRP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정확도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47.8%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무작위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20% · </a:t>
            </a:r>
            <a:r>
              <a:rPr lang="ko-KR" altLang="en-US" sz="1600" dirty="0" err="1">
                <a:solidFill>
                  <a:srgbClr val="4A443E"/>
                </a:solidFill>
                <a:latin typeface="+mn-ea"/>
              </a:rPr>
              <a:t>최빈값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38.7%)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endParaRPr lang="en-US" altLang="ko-KR" sz="1600" dirty="0">
              <a:solidFill>
                <a:srgbClr val="4A443E"/>
              </a:solidFill>
              <a:latin typeface="+mn-ea"/>
            </a:endParaRP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부담 없음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" 16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건은 하나도 못 맞혔다</a:t>
            </a:r>
            <a:endParaRPr sz="1600" b="1" dirty="0">
              <a:solidFill>
                <a:srgbClr val="8A8176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666DAF-5375-4BB4-0FDE-8681C8B2813E}"/>
              </a:ext>
            </a:extLst>
          </p:cNvPr>
          <p:cNvSpPr txBox="1"/>
          <p:nvPr/>
        </p:nvSpPr>
        <p:spPr>
          <a:xfrm>
            <a:off x="6511904" y="1368650"/>
            <a:ext cx="4846320" cy="286809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1" dirty="0" err="1">
                <a:solidFill>
                  <a:srgbClr val="C96F4A"/>
                </a:solidFill>
                <a:latin typeface="+mn-ea"/>
              </a:rPr>
              <a:t>고부담</a:t>
            </a:r>
            <a:r>
              <a:rPr sz="2000" b="1" dirty="0">
                <a:solidFill>
                  <a:srgbClr val="C96F4A"/>
                </a:solidFill>
                <a:latin typeface="+mn-ea"/>
              </a:rPr>
              <a:t> </a:t>
            </a:r>
            <a:r>
              <a:rPr sz="2000" b="1" dirty="0" err="1">
                <a:solidFill>
                  <a:srgbClr val="C96F4A"/>
                </a:solidFill>
                <a:latin typeface="+mn-ea"/>
              </a:rPr>
              <a:t>여부는</a:t>
            </a:r>
            <a:r>
              <a:rPr sz="2000" b="1" dirty="0">
                <a:solidFill>
                  <a:srgbClr val="C96F4A"/>
                </a:solidFill>
                <a:latin typeface="+mn-ea"/>
              </a:rPr>
              <a:t> </a:t>
            </a:r>
            <a:r>
              <a:rPr sz="2000" b="1" dirty="0" err="1">
                <a:solidFill>
                  <a:srgbClr val="C96F4A"/>
                </a:solidFill>
                <a:latin typeface="+mn-ea"/>
              </a:rPr>
              <a:t>가려낸다</a:t>
            </a:r>
            <a:endParaRPr lang="en-US" sz="2000" b="1" dirty="0">
              <a:solidFill>
                <a:srgbClr val="C96F4A"/>
              </a:solidFill>
              <a:latin typeface="+mn-ea"/>
            </a:endParaRP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ko-KR" altLang="en-US" sz="1600" dirty="0" err="1">
                <a:solidFill>
                  <a:srgbClr val="4A443E"/>
                </a:solidFill>
                <a:latin typeface="+mn-ea"/>
              </a:rPr>
              <a:t>재현율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 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		0.773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정밀도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		0.695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정확도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  		0.696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endParaRPr lang="ko-KR" altLang="en-US" sz="2000" dirty="0">
              <a:solidFill>
                <a:srgbClr val="4A443E"/>
              </a:solidFill>
              <a:latin typeface="+mn-ea"/>
            </a:endParaRP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endParaRPr sz="1900" b="1" dirty="0">
              <a:solidFill>
                <a:srgbClr val="C96F4A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8060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FE5B9-A34C-417C-784A-BE495BB7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dirty="0"/>
              <a:t>project2608 — </a:t>
            </a:r>
            <a:r>
              <a:rPr lang="ko-KR" altLang="ko-KR" dirty="0" err="1"/>
              <a:t>돌봄부담</a:t>
            </a:r>
            <a:r>
              <a:rPr lang="ko-KR" altLang="ko-KR" dirty="0"/>
              <a:t> </a:t>
            </a:r>
            <a:r>
              <a:rPr lang="ko-KR" altLang="ko-KR" dirty="0" err="1"/>
              <a:t>진단·복지연계</a:t>
            </a:r>
            <a:r>
              <a:rPr lang="ko-KR" altLang="ko-KR" dirty="0"/>
              <a:t> 서비스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C7FDDDC-B91C-2AD4-E214-E65FCA37C1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6974195"/>
              </p:ext>
            </p:extLst>
          </p:nvPr>
        </p:nvGraphicFramePr>
        <p:xfrm>
          <a:off x="701828" y="3336822"/>
          <a:ext cx="10788343" cy="2042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47048">
                  <a:extLst>
                    <a:ext uri="{9D8B030D-6E8A-4147-A177-3AD203B41FA5}">
                      <a16:colId xmlns:a16="http://schemas.microsoft.com/office/drawing/2014/main" val="874001156"/>
                    </a:ext>
                  </a:extLst>
                </a:gridCol>
                <a:gridCol w="8341295">
                  <a:extLst>
                    <a:ext uri="{9D8B030D-6E8A-4147-A177-3AD203B41FA5}">
                      <a16:colId xmlns:a16="http://schemas.microsoft.com/office/drawing/2014/main" val="701972713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800" b="1" dirty="0">
                          <a:effectLst/>
                        </a:rPr>
                        <a:t>영역</a:t>
                      </a:r>
                      <a:endParaRPr lang="ko-KR" sz="1800" b="1" i="0" dirty="0">
                        <a:effectLst/>
                        <a:latin typeface="system-ui"/>
                      </a:endParaRPr>
                    </a:p>
                  </a:txBody>
                  <a:tcPr anchor="ctr"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800" b="1" dirty="0">
                          <a:effectLst/>
                        </a:rPr>
                        <a:t>스택</a:t>
                      </a:r>
                      <a:endParaRPr lang="ko-KR" sz="1800" b="1" i="0" dirty="0">
                        <a:effectLst/>
                        <a:latin typeface="system-ui"/>
                      </a:endParaRPr>
                    </a:p>
                  </a:txBody>
                  <a:tcPr anchor="ctr"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19278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600" dirty="0" err="1">
                          <a:effectLst/>
                        </a:rPr>
                        <a:t>프론트엔드</a:t>
                      </a:r>
                      <a:endParaRPr lang="ko-KR" sz="1600" b="0" i="0" dirty="0">
                        <a:effectLst/>
                        <a:latin typeface="system-ui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600" dirty="0" err="1">
                          <a:effectLst/>
                        </a:rPr>
                        <a:t>Vue</a:t>
                      </a:r>
                      <a:r>
                        <a:rPr lang="ko-KR" sz="1600" dirty="0">
                          <a:effectLst/>
                        </a:rPr>
                        <a:t> 3.4 + </a:t>
                      </a:r>
                      <a:r>
                        <a:rPr lang="ko-KR" sz="1600" dirty="0" err="1">
                          <a:effectLst/>
                        </a:rPr>
                        <a:t>TypeScript</a:t>
                      </a:r>
                      <a:r>
                        <a:rPr lang="ko-KR" sz="1600" dirty="0">
                          <a:effectLst/>
                        </a:rPr>
                        <a:t> 5 + </a:t>
                      </a:r>
                      <a:r>
                        <a:rPr lang="ko-KR" sz="1600" dirty="0" err="1">
                          <a:effectLst/>
                        </a:rPr>
                        <a:t>Vite</a:t>
                      </a:r>
                      <a:r>
                        <a:rPr lang="ko-KR" sz="1600" dirty="0">
                          <a:effectLst/>
                        </a:rPr>
                        <a:t> 5 + </a:t>
                      </a:r>
                      <a:r>
                        <a:rPr lang="ko-KR" sz="1600" dirty="0" err="1">
                          <a:effectLst/>
                        </a:rPr>
                        <a:t>Pinia</a:t>
                      </a:r>
                      <a:r>
                        <a:rPr lang="ko-KR" sz="1600" dirty="0">
                          <a:effectLst/>
                        </a:rPr>
                        <a:t> 2 + </a:t>
                      </a:r>
                      <a:r>
                        <a:rPr lang="ko-KR" sz="1600" dirty="0" err="1">
                          <a:effectLst/>
                        </a:rPr>
                        <a:t>Leaflet</a:t>
                      </a:r>
                      <a:r>
                        <a:rPr lang="ko-KR" sz="1600" dirty="0">
                          <a:effectLst/>
                        </a:rPr>
                        <a:t>(</a:t>
                      </a:r>
                      <a:r>
                        <a:rPr lang="ko-KR" sz="1600" dirty="0" err="1">
                          <a:effectLst/>
                        </a:rPr>
                        <a:t>OpenStreetMap</a:t>
                      </a:r>
                      <a:r>
                        <a:rPr lang="ko-KR" sz="1600" dirty="0">
                          <a:effectLst/>
                        </a:rPr>
                        <a:t> · 키 불필요)</a:t>
                      </a:r>
                      <a:endParaRPr lang="ko-KR" sz="1600" b="0" i="0" dirty="0">
                        <a:effectLst/>
                        <a:latin typeface="system-ui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4141438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600" dirty="0" err="1">
                          <a:effectLst/>
                        </a:rPr>
                        <a:t>백엔드</a:t>
                      </a:r>
                      <a:endParaRPr lang="ko-KR" sz="1600" b="0" i="0" dirty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600" dirty="0">
                          <a:effectLst/>
                        </a:rPr>
                        <a:t>Node.js 20 LTS + Express 4 + </a:t>
                      </a:r>
                      <a:r>
                        <a:rPr lang="ko-KR" sz="1600" dirty="0" err="1">
                          <a:effectLst/>
                        </a:rPr>
                        <a:t>TypeScript</a:t>
                      </a:r>
                      <a:r>
                        <a:rPr lang="ko-KR" sz="1600" dirty="0">
                          <a:effectLst/>
                        </a:rPr>
                        <a:t> 5 + mysql2 3</a:t>
                      </a:r>
                      <a:endParaRPr lang="ko-KR" sz="1600" b="0" i="0" dirty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71957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600">
                          <a:effectLst/>
                        </a:rPr>
                        <a:t>데이터베이스</a:t>
                      </a:r>
                      <a:endParaRPr lang="ko-KR" sz="1600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600" dirty="0" err="1">
                          <a:effectLst/>
                        </a:rPr>
                        <a:t>MariaDB</a:t>
                      </a:r>
                      <a:r>
                        <a:rPr lang="ko-KR" sz="1600" dirty="0">
                          <a:effectLst/>
                        </a:rPr>
                        <a:t> 12.1.2 — ABC8pioneer3</a:t>
                      </a:r>
                      <a:endParaRPr lang="ko-KR" sz="1600" b="0" i="0" dirty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900019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600">
                          <a:effectLst/>
                        </a:rPr>
                        <a:t>오프라인 학습</a:t>
                      </a:r>
                      <a:endParaRPr lang="ko-KR" sz="1600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600" dirty="0" err="1">
                          <a:effectLst/>
                        </a:rPr>
                        <a:t>Python</a:t>
                      </a:r>
                      <a:r>
                        <a:rPr lang="ko-KR" sz="1600" dirty="0">
                          <a:effectLst/>
                        </a:rPr>
                        <a:t> 3.11 + </a:t>
                      </a:r>
                      <a:r>
                        <a:rPr lang="ko-KR" sz="1600" dirty="0" err="1">
                          <a:effectLst/>
                        </a:rPr>
                        <a:t>scikit-learn</a:t>
                      </a:r>
                      <a:r>
                        <a:rPr lang="ko-KR" sz="1600" dirty="0">
                          <a:effectLst/>
                        </a:rPr>
                        <a:t> + </a:t>
                      </a:r>
                      <a:r>
                        <a:rPr lang="ko-KR" sz="1600" dirty="0" err="1">
                          <a:effectLst/>
                        </a:rPr>
                        <a:t>LightGBM</a:t>
                      </a:r>
                      <a:r>
                        <a:rPr lang="ko-KR" sz="1600" dirty="0">
                          <a:effectLst/>
                        </a:rPr>
                        <a:t> + SHAP (배포 대상 아님)</a:t>
                      </a:r>
                      <a:endParaRPr lang="ko-KR" sz="1600" b="0" i="0" dirty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6895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600">
                          <a:effectLst/>
                        </a:rPr>
                        <a:t>테스트</a:t>
                      </a:r>
                      <a:endParaRPr lang="ko-KR" sz="1600" b="0" i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600" dirty="0" err="1">
                          <a:effectLst/>
                        </a:rPr>
                        <a:t>Vitest</a:t>
                      </a:r>
                      <a:r>
                        <a:rPr lang="ko-KR" sz="1600" dirty="0">
                          <a:effectLst/>
                        </a:rPr>
                        <a:t> · </a:t>
                      </a:r>
                      <a:r>
                        <a:rPr lang="ko-KR" sz="1600" dirty="0" err="1">
                          <a:effectLst/>
                        </a:rPr>
                        <a:t>Playwright</a:t>
                      </a:r>
                      <a:r>
                        <a:rPr lang="ko-KR" sz="1600" dirty="0">
                          <a:effectLst/>
                        </a:rPr>
                        <a:t> · </a:t>
                      </a:r>
                      <a:r>
                        <a:rPr lang="ko-KR" sz="1600" dirty="0" err="1">
                          <a:effectLst/>
                        </a:rPr>
                        <a:t>pytest</a:t>
                      </a:r>
                      <a:endParaRPr lang="ko-KR" sz="1600" b="0" i="0" dirty="0"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1577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9B5A679-B72E-06B3-9CC7-6D576ED9C78E}"/>
              </a:ext>
            </a:extLst>
          </p:cNvPr>
          <p:cNvSpPr txBox="1"/>
          <p:nvPr/>
        </p:nvSpPr>
        <p:spPr>
          <a:xfrm>
            <a:off x="685902" y="1317236"/>
            <a:ext cx="10965324" cy="177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ko-KR" altLang="ko-KR" sz="1400" b="0" i="0" dirty="0">
                <a:effectLst/>
                <a:latin typeface="+mn-lt"/>
              </a:rPr>
              <a:t>발달장애인 보호자 대상 </a:t>
            </a:r>
            <a:r>
              <a:rPr lang="ko-KR" altLang="ko-KR" sz="1400" b="0" i="0" dirty="0" err="1">
                <a:effectLst/>
                <a:latin typeface="+mn-lt"/>
              </a:rPr>
              <a:t>돌봄부담</a:t>
            </a:r>
            <a:r>
              <a:rPr lang="ko-KR" altLang="ko-KR" sz="1400" b="0" i="0" dirty="0">
                <a:effectLst/>
                <a:latin typeface="+mn-lt"/>
              </a:rPr>
              <a:t> 경량 진단 + 지도 기반 복지서비스 </a:t>
            </a:r>
            <a:r>
              <a:rPr lang="ko-KR" altLang="ko-KR" sz="1400" b="0" i="0" dirty="0" err="1">
                <a:effectLst/>
                <a:latin typeface="+mn-lt"/>
              </a:rPr>
              <a:t>신청처</a:t>
            </a:r>
            <a:r>
              <a:rPr lang="ko-KR" altLang="ko-KR" sz="1400" b="0" i="0" dirty="0">
                <a:effectLst/>
                <a:latin typeface="+mn-lt"/>
              </a:rPr>
              <a:t> 안내.</a:t>
            </a:r>
          </a:p>
          <a:p>
            <a:pPr marL="0" marR="0" indent="0"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ko-KR" altLang="ko-KR" sz="1600" b="1" i="0" dirty="0">
                <a:effectLst/>
                <a:latin typeface="+mn-lt"/>
              </a:rPr>
              <a:t>활성 기능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effectLst/>
                <a:latin typeface="+mn-lt"/>
              </a:rPr>
              <a:t>001-care-burden-map — </a:t>
            </a:r>
            <a:r>
              <a:rPr lang="ko-KR" altLang="ko-KR" sz="1400" b="0" i="0" dirty="0" err="1">
                <a:effectLst/>
                <a:latin typeface="+mn-lt"/>
              </a:rPr>
              <a:t>specs</a:t>
            </a:r>
            <a:r>
              <a:rPr lang="ko-KR" altLang="ko-KR" sz="1400" b="0" i="0" dirty="0">
                <a:effectLst/>
                <a:latin typeface="+mn-lt"/>
              </a:rPr>
              <a:t>/001-care-burden-map/ (</a:t>
            </a:r>
            <a:r>
              <a:rPr lang="ko-KR" altLang="ko-KR" sz="1400" b="0" i="0" dirty="0" err="1">
                <a:effectLst/>
                <a:latin typeface="+mn-lt"/>
              </a:rPr>
              <a:t>spec</a:t>
            </a:r>
            <a:r>
              <a:rPr lang="ko-KR" altLang="ko-KR" sz="1400" b="0" i="0" dirty="0">
                <a:effectLst/>
                <a:latin typeface="+mn-lt"/>
              </a:rPr>
              <a:t> · </a:t>
            </a:r>
            <a:r>
              <a:rPr lang="ko-KR" altLang="ko-KR" sz="1400" b="0" i="0" dirty="0" err="1">
                <a:effectLst/>
                <a:latin typeface="+mn-lt"/>
              </a:rPr>
              <a:t>plan</a:t>
            </a:r>
            <a:r>
              <a:rPr lang="ko-KR" altLang="ko-KR" sz="1400" b="0" i="0" dirty="0">
                <a:effectLst/>
                <a:latin typeface="+mn-lt"/>
              </a:rPr>
              <a:t> · </a:t>
            </a:r>
            <a:r>
              <a:rPr lang="ko-KR" altLang="ko-KR" sz="1400" b="0" i="0" dirty="0" err="1">
                <a:effectLst/>
                <a:latin typeface="+mn-lt"/>
              </a:rPr>
              <a:t>research</a:t>
            </a:r>
            <a:r>
              <a:rPr lang="ko-KR" altLang="ko-KR" sz="1400" b="0" i="0" dirty="0">
                <a:effectLst/>
                <a:latin typeface="+mn-lt"/>
              </a:rPr>
              <a:t> · </a:t>
            </a:r>
            <a:r>
              <a:rPr lang="ko-KR" altLang="ko-KR" sz="1400" b="0" i="0" dirty="0" err="1">
                <a:effectLst/>
                <a:latin typeface="+mn-lt"/>
              </a:rPr>
              <a:t>data-model</a:t>
            </a:r>
            <a:r>
              <a:rPr lang="ko-KR" altLang="ko-KR" sz="1400" b="0" i="0" dirty="0">
                <a:effectLst/>
                <a:latin typeface="+mn-lt"/>
              </a:rPr>
              <a:t> · </a:t>
            </a:r>
            <a:r>
              <a:rPr lang="ko-KR" altLang="ko-KR" sz="1400" b="0" i="0" dirty="0" err="1">
                <a:effectLst/>
                <a:latin typeface="+mn-lt"/>
              </a:rPr>
              <a:t>contracts</a:t>
            </a:r>
            <a:r>
              <a:rPr lang="ko-KR" altLang="ko-KR" sz="1400" b="0" i="0" dirty="0">
                <a:effectLst/>
                <a:latin typeface="+mn-lt"/>
              </a:rPr>
              <a:t> · </a:t>
            </a:r>
            <a:r>
              <a:rPr lang="ko-KR" altLang="ko-KR" sz="1400" b="0" i="0" dirty="0" err="1">
                <a:effectLst/>
                <a:latin typeface="+mn-lt"/>
              </a:rPr>
              <a:t>quickstart</a:t>
            </a:r>
            <a:r>
              <a:rPr lang="ko-KR" altLang="ko-KR" sz="1400" b="0" i="0" dirty="0">
                <a:effectLst/>
                <a:latin typeface="+mn-lt"/>
              </a:rPr>
              <a:t>)</a:t>
            </a:r>
          </a:p>
          <a:p>
            <a:pPr marL="0" marR="0" indent="0"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ko-KR" altLang="ko-KR" sz="1600" b="1" i="0" dirty="0">
                <a:effectLst/>
                <a:latin typeface="+mn-lt"/>
              </a:rPr>
              <a:t>기술 스택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271886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C7EF4-3087-DBD2-0D76-5E77AC45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>
                <a:solidFill>
                  <a:srgbClr val="FF66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곁_돌봄의</a:t>
            </a:r>
            <a:r>
              <a:rPr lang="ko-KR" altLang="ko-KR" dirty="0">
                <a:solidFill>
                  <a:srgbClr val="FF66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무게를 읽다</a:t>
            </a:r>
            <a:r>
              <a:rPr lang="en-US" altLang="ko-KR" dirty="0">
                <a:solidFill>
                  <a:srgbClr val="FF6600"/>
                </a:solidFill>
              </a:rPr>
              <a:t> </a:t>
            </a:r>
            <a:endParaRPr lang="ko-KR" altLang="en-US" dirty="0">
              <a:solidFill>
                <a:srgbClr val="FF6600"/>
              </a:solidFill>
            </a:endParaRPr>
          </a:p>
        </p:txBody>
      </p:sp>
      <p:pic>
        <p:nvPicPr>
          <p:cNvPr id="5" name="그림 4">
            <a:hlinkClick r:id="rId2"/>
            <a:extLst>
              <a:ext uri="{FF2B5EF4-FFF2-40B4-BE49-F238E27FC236}">
                <a16:creationId xmlns:a16="http://schemas.microsoft.com/office/drawing/2014/main" id="{E6133253-C83E-8703-EEE4-01E828138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00" y="1137375"/>
            <a:ext cx="7437765" cy="54563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95D296-2EDA-E959-EEFB-9881F0E1B334}"/>
              </a:ext>
            </a:extLst>
          </p:cNvPr>
          <p:cNvSpPr txBox="1"/>
          <p:nvPr/>
        </p:nvSpPr>
        <p:spPr>
          <a:xfrm>
            <a:off x="8209935" y="1268361"/>
            <a:ext cx="338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현재 구현된 서비스 페이지</a:t>
            </a:r>
          </a:p>
        </p:txBody>
      </p:sp>
    </p:spTree>
    <p:extLst>
      <p:ext uri="{BB962C8B-B14F-4D97-AF65-F5344CB8AC3E}">
        <p14:creationId xmlns:p14="http://schemas.microsoft.com/office/powerpoint/2010/main" val="1799195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A9971-B219-45ED-AD56-445EBC16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우리나라 발달장애인 돌봄 서비스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E11FBC-60C9-B08F-2062-443679E53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3175819"/>
            <a:ext cx="6984159" cy="301543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주간활동 </a:t>
            </a: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lvl="1">
              <a:lnSpc>
                <a:spcPct val="100000"/>
              </a:lnSpc>
              <a:spcAft>
                <a:spcPts val="800"/>
              </a:spcAft>
            </a:pP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성인 발달장애인이 낮 시간에 지역사회에서 활동하도록 지원한다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lvl="1">
              <a:lnSpc>
                <a:spcPct val="100000"/>
              </a:lnSpc>
              <a:spcAft>
                <a:spcPts val="800"/>
              </a:spcAft>
            </a:pP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보호자에게는 낮 시간의 돌봄 공백을 메워 주는 거의 유일한 제도다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방과후활동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lvl="1">
              <a:lnSpc>
                <a:spcPct val="100000"/>
              </a:lnSpc>
              <a:spcAft>
                <a:spcPts val="800"/>
              </a:spcAft>
            </a:pP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학교가 끝난 뒤부터 보호자 퇴근까지의 공백을 다룬다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전국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229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시군구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중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221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 확보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(96.5%) </a:t>
            </a:r>
          </a:p>
          <a:p>
            <a:pPr lvl="1">
              <a:lnSpc>
                <a:spcPct val="100000"/>
              </a:lnSpc>
              <a:spcAft>
                <a:spcPts val="800"/>
              </a:spcAft>
            </a:pP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미확보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8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개는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정보 준비 중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+ 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광역 문의처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로 안내</a:t>
            </a:r>
          </a:p>
          <a:p>
            <a:pPr lvl="1">
              <a:lnSpc>
                <a:spcPct val="100000"/>
              </a:lnSpc>
              <a:spcAft>
                <a:spcPts val="800"/>
              </a:spcAft>
            </a:pP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대전은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34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곳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중구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8 · 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유성구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8 · 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동구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7 · 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서구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6 · 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대덕구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5 _ 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이 중 </a:t>
            </a:r>
            <a:r>
              <a:rPr lang="en-US" altLang="ko-KR" sz="1000" dirty="0">
                <a:solidFill>
                  <a:srgbClr val="4A443E"/>
                </a:solidFill>
                <a:latin typeface="+mn-ea"/>
              </a:rPr>
              <a:t>26</a:t>
            </a:r>
            <a:r>
              <a:rPr lang="ko-KR" altLang="en-US" sz="1000" dirty="0">
                <a:solidFill>
                  <a:srgbClr val="4A443E"/>
                </a:solidFill>
                <a:latin typeface="+mn-ea"/>
              </a:rPr>
              <a:t>곳이 두 유형을 모두 제공한다</a:t>
            </a:r>
          </a:p>
        </p:txBody>
      </p:sp>
      <p:pic>
        <p:nvPicPr>
          <p:cNvPr id="5" name="Picture 21" descr="H-대전지도.png">
            <a:extLst>
              <a:ext uri="{FF2B5EF4-FFF2-40B4-BE49-F238E27FC236}">
                <a16:creationId xmlns:a16="http://schemas.microsoft.com/office/drawing/2014/main" id="{96768727-6598-F6D5-2421-C6A68F092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159" y="1242306"/>
            <a:ext cx="4409651" cy="4754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EA3563-DF66-C95E-E37E-156A81748E54}"/>
              </a:ext>
            </a:extLst>
          </p:cNvPr>
          <p:cNvSpPr txBox="1"/>
          <p:nvPr/>
        </p:nvSpPr>
        <p:spPr>
          <a:xfrm>
            <a:off x="480000" y="1242306"/>
            <a:ext cx="6096000" cy="356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lang="ko-KR" altLang="en-US" sz="1400" b="0" dirty="0">
                <a:solidFill>
                  <a:srgbClr val="8A8176"/>
                </a:solidFill>
                <a:latin typeface="Apple SD Gothic Neo"/>
              </a:rPr>
              <a:t>기관 데이터에 실제로 존재하는 두 제도만 안내한다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6B30FBB-FA8D-F98A-6193-D505373B5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747021"/>
              </p:ext>
            </p:extLst>
          </p:nvPr>
        </p:nvGraphicFramePr>
        <p:xfrm>
          <a:off x="635256" y="1841011"/>
          <a:ext cx="6673645" cy="1065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4334">
                  <a:extLst>
                    <a:ext uri="{9D8B030D-6E8A-4147-A177-3AD203B41FA5}">
                      <a16:colId xmlns:a16="http://schemas.microsoft.com/office/drawing/2014/main" val="2941173065"/>
                    </a:ext>
                  </a:extLst>
                </a:gridCol>
                <a:gridCol w="1888419">
                  <a:extLst>
                    <a:ext uri="{9D8B030D-6E8A-4147-A177-3AD203B41FA5}">
                      <a16:colId xmlns:a16="http://schemas.microsoft.com/office/drawing/2014/main" val="1698345176"/>
                    </a:ext>
                  </a:extLst>
                </a:gridCol>
                <a:gridCol w="1041898">
                  <a:extLst>
                    <a:ext uri="{9D8B030D-6E8A-4147-A177-3AD203B41FA5}">
                      <a16:colId xmlns:a16="http://schemas.microsoft.com/office/drawing/2014/main" val="825372412"/>
                    </a:ext>
                  </a:extLst>
                </a:gridCol>
                <a:gridCol w="1208994">
                  <a:extLst>
                    <a:ext uri="{9D8B030D-6E8A-4147-A177-3AD203B41FA5}">
                      <a16:colId xmlns:a16="http://schemas.microsoft.com/office/drawing/2014/main" val="698088945"/>
                    </a:ext>
                  </a:extLst>
                </a:gridCol>
              </a:tblGrid>
              <a:tr h="355153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제도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대상</a:t>
                      </a:r>
                      <a:endParaRPr lang="en-US" altLang="ko-KR" sz="14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기관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시군구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747369"/>
                  </a:ext>
                </a:extLst>
              </a:tr>
              <a:tr h="35515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발달장애인 주간활동서비스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12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18~64</a:t>
                      </a:r>
                      <a:r>
                        <a:rPr lang="ko-KR" altLang="en-US" sz="12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세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724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217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4058010"/>
                  </a:ext>
                </a:extLst>
              </a:tr>
              <a:tr h="35515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청소년 </a:t>
                      </a:r>
                      <a:r>
                        <a:rPr lang="ko-KR" altLang="en-US" sz="12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방과후활동서비스</a:t>
                      </a:r>
                      <a:endParaRPr lang="ko-KR" altLang="en-US" sz="12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12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6~17</a:t>
                      </a:r>
                      <a:r>
                        <a:rPr lang="ko-KR" altLang="en-US" sz="12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553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196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906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395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9DFFA-60FB-C2FF-1065-E33CEBA5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제도의 사각지대</a:t>
            </a:r>
            <a:endParaRPr lang="ko-KR" altLang="en-US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4954776C-DB78-1163-8B18-2B70C66C542B}"/>
              </a:ext>
            </a:extLst>
          </p:cNvPr>
          <p:cNvGrpSpPr/>
          <p:nvPr/>
        </p:nvGrpSpPr>
        <p:grpSpPr>
          <a:xfrm>
            <a:off x="526087" y="1905047"/>
            <a:ext cx="10613860" cy="3356019"/>
            <a:chOff x="526087" y="1980000"/>
            <a:chExt cx="10613860" cy="335601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FB28B84-2C8C-094E-C4ED-1D59EAF1E119}"/>
                </a:ext>
              </a:extLst>
            </p:cNvPr>
            <p:cNvSpPr/>
            <p:nvPr/>
          </p:nvSpPr>
          <p:spPr>
            <a:xfrm>
              <a:off x="1188720" y="2235200"/>
              <a:ext cx="751840" cy="1859280"/>
            </a:xfrm>
            <a:prstGeom prst="rect">
              <a:avLst/>
            </a:prstGeom>
            <a:solidFill>
              <a:srgbClr val="EFE7DC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B836807-3E27-F373-7188-5DFB97F04DF3}"/>
                </a:ext>
              </a:extLst>
            </p:cNvPr>
            <p:cNvSpPr/>
            <p:nvPr/>
          </p:nvSpPr>
          <p:spPr>
            <a:xfrm>
              <a:off x="9063046" y="2224391"/>
              <a:ext cx="1808153" cy="1859280"/>
            </a:xfrm>
            <a:prstGeom prst="rect">
              <a:avLst/>
            </a:prstGeom>
            <a:solidFill>
              <a:srgbClr val="EFE7DC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B3C7DBA-03BD-B154-DC73-4A152EB45115}"/>
                </a:ext>
              </a:extLst>
            </p:cNvPr>
            <p:cNvGrpSpPr/>
            <p:nvPr/>
          </p:nvGrpSpPr>
          <p:grpSpPr>
            <a:xfrm>
              <a:off x="1936750" y="2312668"/>
              <a:ext cx="1454640" cy="720001"/>
              <a:chOff x="1936750" y="2312668"/>
              <a:chExt cx="1454640" cy="720001"/>
            </a:xfrm>
            <a:solidFill>
              <a:srgbClr val="6699FF"/>
            </a:solidFill>
          </p:grpSpPr>
          <p:sp>
            <p:nvSpPr>
              <p:cNvPr id="13" name="순서도: 지연 12">
                <a:extLst>
                  <a:ext uri="{FF2B5EF4-FFF2-40B4-BE49-F238E27FC236}">
                    <a16:creationId xmlns:a16="http://schemas.microsoft.com/office/drawing/2014/main" id="{2CEA062F-A9E6-65E6-3383-939D92C9EBBB}"/>
                  </a:ext>
                </a:extLst>
              </p:cNvPr>
              <p:cNvSpPr/>
              <p:nvPr/>
            </p:nvSpPr>
            <p:spPr>
              <a:xfrm>
                <a:off x="3247390" y="2312669"/>
                <a:ext cx="144000" cy="720000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순서도: 지연 14">
                <a:extLst>
                  <a:ext uri="{FF2B5EF4-FFF2-40B4-BE49-F238E27FC236}">
                    <a16:creationId xmlns:a16="http://schemas.microsoft.com/office/drawing/2014/main" id="{E366212D-E0ED-BFFB-890C-A587352D6128}"/>
                  </a:ext>
                </a:extLst>
              </p:cNvPr>
              <p:cNvSpPr/>
              <p:nvPr/>
            </p:nvSpPr>
            <p:spPr>
              <a:xfrm rot="10800000">
                <a:off x="1936750" y="2312669"/>
                <a:ext cx="144000" cy="720000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D28E9389-D849-6514-8BD1-2BC348A2AEE3}"/>
                  </a:ext>
                </a:extLst>
              </p:cNvPr>
              <p:cNvSpPr/>
              <p:nvPr/>
            </p:nvSpPr>
            <p:spPr>
              <a:xfrm>
                <a:off x="2008748" y="2312668"/>
                <a:ext cx="1313571" cy="72000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B79D5DD-1C51-82B2-1409-B4B0679244C1}"/>
                </a:ext>
              </a:extLst>
            </p:cNvPr>
            <p:cNvGrpSpPr/>
            <p:nvPr/>
          </p:nvGrpSpPr>
          <p:grpSpPr>
            <a:xfrm>
              <a:off x="3362427" y="3266397"/>
              <a:ext cx="5692345" cy="720001"/>
              <a:chOff x="3362427" y="3266397"/>
              <a:chExt cx="5692345" cy="720001"/>
            </a:xfrm>
            <a:solidFill>
              <a:srgbClr val="FF6600"/>
            </a:solidFill>
          </p:grpSpPr>
          <p:sp>
            <p:nvSpPr>
              <p:cNvPr id="20" name="순서도: 지연 19">
                <a:extLst>
                  <a:ext uri="{FF2B5EF4-FFF2-40B4-BE49-F238E27FC236}">
                    <a16:creationId xmlns:a16="http://schemas.microsoft.com/office/drawing/2014/main" id="{89C9D779-72D8-F01F-F279-53C5D1C39615}"/>
                  </a:ext>
                </a:extLst>
              </p:cNvPr>
              <p:cNvSpPr/>
              <p:nvPr/>
            </p:nvSpPr>
            <p:spPr>
              <a:xfrm>
                <a:off x="8910772" y="3266397"/>
                <a:ext cx="144000" cy="720000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지연 21">
                <a:extLst>
                  <a:ext uri="{FF2B5EF4-FFF2-40B4-BE49-F238E27FC236}">
                    <a16:creationId xmlns:a16="http://schemas.microsoft.com/office/drawing/2014/main" id="{1751F631-CCB4-6D53-428D-CFDDC014ACA0}"/>
                  </a:ext>
                </a:extLst>
              </p:cNvPr>
              <p:cNvSpPr/>
              <p:nvPr/>
            </p:nvSpPr>
            <p:spPr>
              <a:xfrm rot="10800000">
                <a:off x="3362427" y="3266398"/>
                <a:ext cx="144000" cy="720000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56AAE73-8EF5-C990-0395-9605433677EF}"/>
                  </a:ext>
                </a:extLst>
              </p:cNvPr>
              <p:cNvSpPr/>
              <p:nvPr/>
            </p:nvSpPr>
            <p:spPr>
              <a:xfrm>
                <a:off x="3434424" y="3266397"/>
                <a:ext cx="5545745" cy="72000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CE7C6DD9-F4C5-D651-3DAF-51CBD51E0A42}"/>
                </a:ext>
              </a:extLst>
            </p:cNvPr>
            <p:cNvCxnSpPr/>
            <p:nvPr/>
          </p:nvCxnSpPr>
          <p:spPr>
            <a:xfrm>
              <a:off x="1936749" y="1980000"/>
              <a:ext cx="0" cy="252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EB9E3D96-C0A8-8BD9-E47F-F4219AAE430A}"/>
                </a:ext>
              </a:extLst>
            </p:cNvPr>
            <p:cNvCxnSpPr/>
            <p:nvPr/>
          </p:nvCxnSpPr>
          <p:spPr>
            <a:xfrm>
              <a:off x="3376436" y="1980000"/>
              <a:ext cx="0" cy="252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AFA10B77-FDBB-AF14-106F-DCE20AFD92A2}"/>
                </a:ext>
              </a:extLst>
            </p:cNvPr>
            <p:cNvCxnSpPr/>
            <p:nvPr/>
          </p:nvCxnSpPr>
          <p:spPr>
            <a:xfrm>
              <a:off x="9063046" y="1980000"/>
              <a:ext cx="0" cy="252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8874CD2-8558-4828-5C1D-90A864919888}"/>
                </a:ext>
              </a:extLst>
            </p:cNvPr>
            <p:cNvSpPr txBox="1"/>
            <p:nvPr/>
          </p:nvSpPr>
          <p:spPr>
            <a:xfrm>
              <a:off x="526087" y="3226342"/>
              <a:ext cx="207710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ko-KR" sz="1200" dirty="0">
                  <a:latin typeface="+mn-ea"/>
                </a:rPr>
                <a:t>영유아 </a:t>
              </a:r>
              <a:endParaRPr lang="en-US" altLang="ko-KR" sz="1200" dirty="0">
                <a:latin typeface="+mn-ea"/>
              </a:endParaRPr>
            </a:p>
            <a:p>
              <a:pPr algn="ctr"/>
              <a:r>
                <a:rPr lang="ko-KR" altLang="ko-KR" sz="1200" dirty="0">
                  <a:latin typeface="+mn-ea"/>
                </a:rPr>
                <a:t>장애아동 지원·</a:t>
              </a:r>
              <a:endParaRPr lang="en-US" altLang="ko-KR" sz="1200" dirty="0">
                <a:latin typeface="+mn-ea"/>
              </a:endParaRPr>
            </a:p>
            <a:p>
              <a:pPr algn="ctr"/>
              <a:r>
                <a:rPr lang="ko-KR" altLang="ko-KR" sz="1200" dirty="0">
                  <a:latin typeface="+mn-ea"/>
                </a:rPr>
                <a:t>발달재활 등</a:t>
              </a:r>
              <a:endParaRPr lang="en-US" altLang="ko-KR" sz="1200" dirty="0">
                <a:latin typeface="+mn-ea"/>
              </a:endParaRPr>
            </a:p>
            <a:p>
              <a:pPr algn="ctr"/>
              <a:r>
                <a:rPr lang="ko-KR" altLang="ko-KR" sz="1200" dirty="0">
                  <a:latin typeface="+mn-ea"/>
                </a:rPr>
                <a:t>별도 서비스 체계</a:t>
              </a:r>
              <a:endParaRPr lang="ko-KR" altLang="en-US" sz="1200" dirty="0"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71DC667-DE37-5B80-7803-A6E0FB81B093}"/>
                </a:ext>
              </a:extLst>
            </p:cNvPr>
            <p:cNvSpPr txBox="1"/>
            <p:nvPr/>
          </p:nvSpPr>
          <p:spPr>
            <a:xfrm>
              <a:off x="1518878" y="4480755"/>
              <a:ext cx="83574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만 </a:t>
              </a:r>
              <a:r>
                <a:rPr lang="en-US" altLang="ko-KR" sz="1000" dirty="0"/>
                <a:t>6</a:t>
              </a:r>
              <a:r>
                <a:rPr lang="ko-KR" altLang="en-US" sz="1000" dirty="0"/>
                <a:t>세</a:t>
              </a:r>
              <a:endParaRPr lang="ko-KR" alt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16CC55D-9172-29DD-4B41-E253991C1D48}"/>
                </a:ext>
              </a:extLst>
            </p:cNvPr>
            <p:cNvSpPr txBox="1"/>
            <p:nvPr/>
          </p:nvSpPr>
          <p:spPr>
            <a:xfrm>
              <a:off x="2958565" y="4480754"/>
              <a:ext cx="83574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만 </a:t>
              </a:r>
              <a:r>
                <a:rPr lang="en-US" altLang="ko-KR" sz="1000" dirty="0"/>
                <a:t>18</a:t>
              </a:r>
              <a:r>
                <a:rPr lang="ko-KR" altLang="en-US" sz="1000" dirty="0"/>
                <a:t>세</a:t>
              </a:r>
              <a:endParaRPr lang="ko-KR" alt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E7645A4-2E0E-853E-9B33-DA27B67D38B2}"/>
                </a:ext>
              </a:extLst>
            </p:cNvPr>
            <p:cNvSpPr txBox="1"/>
            <p:nvPr/>
          </p:nvSpPr>
          <p:spPr>
            <a:xfrm>
              <a:off x="10026282" y="4946879"/>
              <a:ext cx="111366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/>
                <a:t>당사자 연령</a:t>
              </a:r>
              <a:endParaRPr lang="ko-KR" alt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6E719BE-5555-69C4-30DE-FCEEC1082B68}"/>
                </a:ext>
              </a:extLst>
            </p:cNvPr>
            <p:cNvSpPr txBox="1"/>
            <p:nvPr/>
          </p:nvSpPr>
          <p:spPr>
            <a:xfrm>
              <a:off x="1576927" y="2366741"/>
              <a:ext cx="20771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latin typeface="+mn-ea"/>
                </a:rPr>
                <a:t>청소년 </a:t>
              </a:r>
              <a:r>
                <a:rPr lang="ko-KR" altLang="en-US" sz="1200" dirty="0" err="1">
                  <a:latin typeface="+mn-ea"/>
                </a:rPr>
                <a:t>방과후활동서비스</a:t>
              </a:r>
              <a:endParaRPr lang="en-US" altLang="ko-KR" sz="1200" dirty="0">
                <a:latin typeface="+mn-ea"/>
              </a:endParaRPr>
            </a:p>
            <a:p>
              <a:pPr algn="ctr"/>
              <a:r>
                <a:rPr lang="ko-KR" altLang="en-US" sz="1200" dirty="0">
                  <a:latin typeface="+mn-ea"/>
                </a:rPr>
                <a:t>만 </a:t>
              </a:r>
              <a:r>
                <a:rPr lang="en-US" altLang="ko-KR" sz="1200" dirty="0">
                  <a:latin typeface="+mn-ea"/>
                </a:rPr>
                <a:t>6~17</a:t>
              </a:r>
              <a:r>
                <a:rPr lang="ko-KR" altLang="en-US" sz="1200" dirty="0">
                  <a:latin typeface="+mn-ea"/>
                </a:rPr>
                <a:t>세 </a:t>
              </a:r>
              <a:r>
                <a:rPr lang="en-US" altLang="ko-KR" sz="1200" dirty="0">
                  <a:latin typeface="+mn-ea"/>
                </a:rPr>
                <a:t>· 553</a:t>
              </a:r>
              <a:r>
                <a:rPr lang="ko-KR" altLang="en-US" sz="1200" dirty="0">
                  <a:latin typeface="+mn-ea"/>
                </a:rPr>
                <a:t>곳 </a:t>
              </a:r>
              <a:r>
                <a:rPr lang="en-US" altLang="ko-KR" sz="1200" dirty="0">
                  <a:latin typeface="+mn-ea"/>
                </a:rPr>
                <a:t>· </a:t>
              </a:r>
            </a:p>
            <a:p>
              <a:pPr algn="ctr"/>
              <a:r>
                <a:rPr lang="en-US" altLang="ko-KR" sz="1200" dirty="0">
                  <a:latin typeface="+mn-ea"/>
                </a:rPr>
                <a:t>196</a:t>
              </a:r>
              <a:r>
                <a:rPr lang="ko-KR" altLang="en-US" sz="1200" dirty="0">
                  <a:latin typeface="+mn-ea"/>
                </a:rPr>
                <a:t>개 </a:t>
              </a:r>
              <a:r>
                <a:rPr lang="ko-KR" altLang="en-US" sz="1200" dirty="0" err="1">
                  <a:latin typeface="+mn-ea"/>
                </a:rPr>
                <a:t>시군구</a:t>
              </a:r>
              <a:endParaRPr lang="ko-KR" altLang="en-US" sz="1200" dirty="0"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B2232C8-7893-BCD9-FDAE-887491E0B965}"/>
                </a:ext>
              </a:extLst>
            </p:cNvPr>
            <p:cNvSpPr txBox="1"/>
            <p:nvPr/>
          </p:nvSpPr>
          <p:spPr>
            <a:xfrm>
              <a:off x="1081549" y="4979896"/>
              <a:ext cx="8357418" cy="356123"/>
            </a:xfrm>
            <a:prstGeom prst="rect">
              <a:avLst/>
            </a:prstGeom>
            <a:solidFill>
              <a:srgbClr val="FFFAF5"/>
            </a:solidFill>
          </p:spPr>
          <p:txBody>
            <a:bodyPr wrap="square">
              <a:spAutoFit/>
            </a:bodyPr>
            <a:lstStyle/>
            <a:p>
              <a:pPr algn="l">
                <a:lnSpc>
                  <a:spcPct val="135000"/>
                </a:lnSpc>
                <a:spcAft>
                  <a:spcPts val="800"/>
                </a:spcAft>
              </a:pPr>
              <a:r>
                <a:rPr lang="ko-KR" altLang="en-US" sz="1400" b="0" dirty="0">
                  <a:solidFill>
                    <a:srgbClr val="8A8176"/>
                  </a:solidFill>
                  <a:latin typeface="Apple SD Gothic Neo"/>
                </a:rPr>
                <a:t>이 서비스의 목적이 사각지대 발굴이므로 화면에서 배제하지 않는다</a:t>
              </a:r>
              <a:r>
                <a:rPr lang="en-US" altLang="ko-KR" sz="1400" b="0" dirty="0">
                  <a:solidFill>
                    <a:srgbClr val="8A8176"/>
                  </a:solidFill>
                  <a:latin typeface="Apple SD Gothic Neo"/>
                </a:rPr>
                <a:t>. </a:t>
              </a:r>
              <a:r>
                <a:rPr lang="ko-KR" altLang="en-US" sz="1400" b="0" dirty="0">
                  <a:solidFill>
                    <a:srgbClr val="8A8176"/>
                  </a:solidFill>
                  <a:latin typeface="Apple SD Gothic Neo"/>
                </a:rPr>
                <a:t>연령 매핑은 자격 판정이 아니다</a:t>
              </a:r>
              <a:r>
                <a:rPr lang="en-US" altLang="ko-KR" sz="1400" b="0" dirty="0">
                  <a:solidFill>
                    <a:srgbClr val="8A8176"/>
                  </a:solidFill>
                  <a:latin typeface="Apple SD Gothic Neo"/>
                </a:rPr>
                <a:t>.</a:t>
              </a:r>
            </a:p>
          </p:txBody>
        </p: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5683837C-E5E4-36FB-59E5-FDFF2681A683}"/>
                </a:ext>
              </a:extLst>
            </p:cNvPr>
            <p:cNvCxnSpPr/>
            <p:nvPr/>
          </p:nvCxnSpPr>
          <p:spPr>
            <a:xfrm>
              <a:off x="1229032" y="4817806"/>
              <a:ext cx="956678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BA255D8-68A6-9498-CB12-D3D10BE6D0A6}"/>
                </a:ext>
              </a:extLst>
            </p:cNvPr>
            <p:cNvSpPr txBox="1"/>
            <p:nvPr/>
          </p:nvSpPr>
          <p:spPr>
            <a:xfrm>
              <a:off x="4560650" y="3426342"/>
              <a:ext cx="33331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+mn-ea"/>
                </a:rPr>
                <a:t>발달장애인 주간활동서비스</a:t>
              </a:r>
              <a:endParaRPr lang="en-US" altLang="ko-KR" sz="1200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+mn-ea"/>
                </a:rPr>
                <a:t>만 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18~64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</a:rPr>
                <a:t>세 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· 724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</a:rPr>
                <a:t>곳 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· 217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</a:rPr>
                <a:t>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n-ea"/>
                </a:rPr>
                <a:t>시군구</a:t>
              </a:r>
              <a:endParaRPr lang="ko-KR" altLang="en-US" sz="12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C017886-6CAE-E4F6-D7C5-FC88154C9EBB}"/>
                </a:ext>
              </a:extLst>
            </p:cNvPr>
            <p:cNvSpPr txBox="1"/>
            <p:nvPr/>
          </p:nvSpPr>
          <p:spPr>
            <a:xfrm>
              <a:off x="8998399" y="2444967"/>
              <a:ext cx="1937446" cy="13696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</a:rPr>
                <a:t>만 </a:t>
              </a:r>
              <a:r>
                <a:rPr lang="en-US" altLang="ko-KR" sz="1200" b="1" dirty="0">
                  <a:latin typeface="+mn-ea"/>
                </a:rPr>
                <a:t>65</a:t>
              </a:r>
              <a:r>
                <a:rPr lang="ko-KR" altLang="en-US" sz="1200" b="1" dirty="0">
                  <a:latin typeface="+mn-ea"/>
                </a:rPr>
                <a:t>세 이상</a:t>
              </a:r>
              <a:endParaRPr lang="en-US" altLang="ko-KR" sz="1200" b="1" dirty="0">
                <a:latin typeface="+mn-ea"/>
              </a:endParaRPr>
            </a:p>
            <a:p>
              <a:pPr algn="ctr"/>
              <a:endParaRPr lang="en-US" altLang="ko-KR" dirty="0">
                <a:solidFill>
                  <a:srgbClr val="FF6600"/>
                </a:solidFill>
                <a:latin typeface="+mn-ea"/>
              </a:endParaRPr>
            </a:p>
            <a:p>
              <a:pPr algn="ctr"/>
              <a:r>
                <a:rPr lang="ko-KR" altLang="en-US" b="1" dirty="0">
                  <a:solidFill>
                    <a:srgbClr val="FF6600"/>
                  </a:solidFill>
                  <a:latin typeface="+mn-ea"/>
                </a:rPr>
                <a:t>사각지대</a:t>
              </a:r>
              <a:endParaRPr lang="en-US" altLang="ko-KR" b="1" dirty="0">
                <a:solidFill>
                  <a:srgbClr val="FF6600"/>
                </a:solidFill>
                <a:latin typeface="+mn-ea"/>
              </a:endParaRPr>
            </a:p>
            <a:p>
              <a:pPr algn="ctr"/>
              <a:endParaRPr lang="en-US" altLang="ko-KR" sz="1100" dirty="0">
                <a:latin typeface="+mn-ea"/>
              </a:endParaRPr>
            </a:p>
            <a:p>
              <a:pPr algn="ctr"/>
              <a:r>
                <a:rPr lang="ko-KR" altLang="en-US" sz="1200" dirty="0">
                  <a:latin typeface="+mn-ea"/>
                </a:rPr>
                <a:t>노인장기요양</a:t>
              </a:r>
              <a:r>
                <a:rPr lang="en-US" altLang="ko-KR" sz="1200" dirty="0">
                  <a:latin typeface="+mn-ea"/>
                </a:rPr>
                <a:t>·</a:t>
              </a:r>
            </a:p>
            <a:p>
              <a:pPr algn="ctr"/>
              <a:r>
                <a:rPr lang="ko-KR" altLang="en-US" sz="1200" dirty="0">
                  <a:latin typeface="+mn-ea"/>
                </a:rPr>
                <a:t>발달장애인지원센터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05B26A6E-DDAD-C2FC-5823-E5EFA04FEC0D}"/>
              </a:ext>
            </a:extLst>
          </p:cNvPr>
          <p:cNvSpPr txBox="1"/>
          <p:nvPr/>
        </p:nvSpPr>
        <p:spPr>
          <a:xfrm>
            <a:off x="934064" y="1298497"/>
            <a:ext cx="6253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제도의 틈 </a:t>
            </a:r>
            <a:r>
              <a:rPr lang="en-US" altLang="ko-KR" sz="1400" dirty="0">
                <a:latin typeface="+mn-ea"/>
              </a:rPr>
              <a:t>– </a:t>
            </a:r>
            <a:r>
              <a:rPr lang="ko-KR" altLang="en-US" sz="1400" dirty="0">
                <a:latin typeface="+mn-ea"/>
              </a:rPr>
              <a:t>만 </a:t>
            </a:r>
            <a:r>
              <a:rPr lang="en-US" altLang="ko-KR" sz="1400" dirty="0">
                <a:latin typeface="+mn-ea"/>
              </a:rPr>
              <a:t>65</a:t>
            </a:r>
            <a:r>
              <a:rPr lang="ko-KR" altLang="en-US" sz="1400" dirty="0">
                <a:latin typeface="+mn-ea"/>
              </a:rPr>
              <a:t>세 이상은 지원대상에 속하지 않는다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53" name="내용 개체 틀 2">
            <a:extLst>
              <a:ext uri="{FF2B5EF4-FFF2-40B4-BE49-F238E27FC236}">
                <a16:creationId xmlns:a16="http://schemas.microsoft.com/office/drawing/2014/main" id="{DCD2C2B8-12A8-231E-088B-0AD50441A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5702710"/>
            <a:ext cx="11280000" cy="10285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만 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65</a:t>
            </a: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세 이상 발달장애인은 제도의 틈에 놓인다 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— </a:t>
            </a: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장애인 서비스에서는 나이가 많고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,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노인 서비스에서는 발달장애 특성이 고려되지 않는다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endParaRPr lang="ko-KR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60377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E1AE9-14CD-9750-3658-04609629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설문으로 </a:t>
            </a:r>
            <a:r>
              <a:rPr lang="ko-KR" altLang="en-US" dirty="0" err="1">
                <a:solidFill>
                  <a:srgbClr val="2B2724"/>
                </a:solidFill>
                <a:latin typeface="Apple SD Gothic Neo"/>
              </a:rPr>
              <a:t>돌봄부담을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 진단하는 의미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2EF2B-DD3C-7B70-0018-8DA7ADAF2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444729"/>
            <a:ext cx="11280000" cy="195354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+mj-ea"/>
              <a:buAutoNum type="circleNumDbPlain"/>
            </a:pPr>
            <a:r>
              <a:rPr lang="ko-KR" altLang="en-US" sz="1800" dirty="0">
                <a:solidFill>
                  <a:srgbClr val="4A443E"/>
                </a:solidFill>
                <a:latin typeface="+mn-ea"/>
              </a:rPr>
              <a:t>객관화의 계기 </a:t>
            </a:r>
            <a:r>
              <a:rPr lang="en-US" altLang="ko-KR" sz="1800" dirty="0">
                <a:solidFill>
                  <a:srgbClr val="4A443E"/>
                </a:solidFill>
                <a:latin typeface="+mn-ea"/>
              </a:rPr>
              <a:t>: "</a:t>
            </a:r>
            <a:r>
              <a:rPr lang="ko-KR" altLang="en-US" sz="1800" dirty="0">
                <a:solidFill>
                  <a:srgbClr val="4A443E"/>
                </a:solidFill>
                <a:latin typeface="+mn-ea"/>
              </a:rPr>
              <a:t>다들 이 정도</a:t>
            </a:r>
            <a:r>
              <a:rPr lang="en-US" altLang="ko-KR" sz="18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800" dirty="0">
                <a:solidFill>
                  <a:srgbClr val="4A443E"/>
                </a:solidFill>
                <a:latin typeface="+mn-ea"/>
              </a:rPr>
              <a:t>라고 여기던 것이 전국 </a:t>
            </a:r>
            <a:r>
              <a:rPr lang="en-US" altLang="ko-KR" sz="1800" dirty="0">
                <a:solidFill>
                  <a:srgbClr val="4A443E"/>
                </a:solidFill>
                <a:latin typeface="+mn-ea"/>
              </a:rPr>
              <a:t>3,000</a:t>
            </a:r>
            <a:r>
              <a:rPr lang="ko-KR" altLang="en-US" sz="1800" dirty="0">
                <a:solidFill>
                  <a:srgbClr val="4A443E"/>
                </a:solidFill>
                <a:latin typeface="+mn-ea"/>
              </a:rPr>
              <a:t>가구 분포에서 </a:t>
            </a:r>
            <a:r>
              <a:rPr lang="ko-KR" altLang="en-US" sz="1800" dirty="0" err="1">
                <a:solidFill>
                  <a:srgbClr val="4A443E"/>
                </a:solidFill>
                <a:latin typeface="+mn-ea"/>
              </a:rPr>
              <a:t>어디쯤인지</a:t>
            </a:r>
            <a:r>
              <a:rPr lang="ko-KR" altLang="en-US" sz="1800" dirty="0">
                <a:solidFill>
                  <a:srgbClr val="4A443E"/>
                </a:solidFill>
                <a:latin typeface="+mn-ea"/>
              </a:rPr>
              <a:t> 보인다</a:t>
            </a:r>
            <a:r>
              <a:rPr lang="en-US" altLang="ko-KR" sz="1800" dirty="0">
                <a:solidFill>
                  <a:srgbClr val="4A443E"/>
                </a:solidFill>
                <a:latin typeface="+mn-ea"/>
              </a:rPr>
              <a:t>. </a:t>
            </a: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+mj-ea"/>
              <a:buAutoNum type="circleNumDbPlain"/>
            </a:pPr>
            <a:r>
              <a:rPr lang="ko-KR" altLang="en-US" sz="1800" dirty="0">
                <a:solidFill>
                  <a:srgbClr val="4A443E"/>
                </a:solidFill>
                <a:latin typeface="+mn-ea"/>
              </a:rPr>
              <a:t>제도로 가는 최단 경로 </a:t>
            </a:r>
            <a:r>
              <a:rPr lang="en-US" altLang="ko-KR" sz="1800" dirty="0">
                <a:solidFill>
                  <a:srgbClr val="4A443E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4A443E"/>
                </a:solidFill>
                <a:latin typeface="+mn-ea"/>
              </a:rPr>
              <a:t>고부담이면 추가 조작 없이 접수처 </a:t>
            </a:r>
            <a:r>
              <a:rPr lang="en-US" altLang="ko-KR" sz="1800" dirty="0">
                <a:solidFill>
                  <a:srgbClr val="4A443E"/>
                </a:solidFill>
                <a:latin typeface="+mn-ea"/>
              </a:rPr>
              <a:t>3</a:t>
            </a:r>
            <a:r>
              <a:rPr lang="ko-KR" altLang="en-US" sz="1800" dirty="0">
                <a:solidFill>
                  <a:srgbClr val="4A443E"/>
                </a:solidFill>
                <a:latin typeface="+mn-ea"/>
              </a:rPr>
              <a:t>곳이 바로 나온다</a:t>
            </a:r>
            <a:r>
              <a:rPr lang="en-US" altLang="ko-KR" sz="18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+mj-ea"/>
              <a:buAutoNum type="circleNumDbPlain"/>
            </a:pPr>
            <a:r>
              <a:rPr lang="en-US" altLang="ko-KR" sz="1800" dirty="0">
                <a:solidFill>
                  <a:srgbClr val="4A443E"/>
                </a:solidFill>
                <a:latin typeface="+mn-ea"/>
              </a:rPr>
              <a:t>2</a:t>
            </a:r>
            <a:r>
              <a:rPr lang="ko-KR" altLang="en-US" sz="1800" dirty="0">
                <a:solidFill>
                  <a:srgbClr val="4A443E"/>
                </a:solidFill>
                <a:latin typeface="+mn-ea"/>
              </a:rPr>
              <a:t>분 안에 끝난다</a:t>
            </a:r>
            <a:r>
              <a:rPr lang="en-US" altLang="ko-KR" sz="1800" dirty="0">
                <a:solidFill>
                  <a:srgbClr val="4A443E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4A443E"/>
                </a:solidFill>
                <a:latin typeface="+mn-ea"/>
              </a:rPr>
              <a:t>부담이 큰 사람이 끝까지 갈 수 있는 분량이어야 의미가 있다</a:t>
            </a:r>
            <a:r>
              <a:rPr lang="en-US" altLang="ko-KR" sz="18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+mj-ea"/>
              <a:buAutoNum type="circleNumDbPlain"/>
            </a:pPr>
            <a:endParaRPr lang="en-US" altLang="ko-KR" sz="1800" dirty="0">
              <a:solidFill>
                <a:srgbClr val="4A443E"/>
              </a:solidFill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ea"/>
              <a:buAutoNum type="circleNumDbPlain"/>
            </a:pPr>
            <a:endParaRPr lang="ko-KR" altLang="en-US" sz="18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80224-835F-4778-4E8C-00CDD61B9E12}"/>
              </a:ext>
            </a:extLst>
          </p:cNvPr>
          <p:cNvSpPr txBox="1"/>
          <p:nvPr/>
        </p:nvSpPr>
        <p:spPr>
          <a:xfrm>
            <a:off x="645979" y="1291466"/>
            <a:ext cx="10515600" cy="35099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8A8176"/>
                </a:solidFill>
                <a:latin typeface="+mn-ea"/>
              </a:rPr>
              <a:t>정확한</a:t>
            </a:r>
            <a:r>
              <a:rPr sz="140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n-ea"/>
              </a:rPr>
              <a:t>진단이</a:t>
            </a:r>
            <a:r>
              <a:rPr sz="140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n-ea"/>
              </a:rPr>
              <a:t>아니라</a:t>
            </a:r>
            <a:r>
              <a:rPr sz="1400" b="0" dirty="0">
                <a:solidFill>
                  <a:srgbClr val="8A8176"/>
                </a:solidFill>
                <a:latin typeface="+mn-ea"/>
              </a:rPr>
              <a:t> "말 </a:t>
            </a:r>
            <a:r>
              <a:rPr sz="1400" b="0" dirty="0" err="1">
                <a:solidFill>
                  <a:srgbClr val="8A8176"/>
                </a:solidFill>
                <a:latin typeface="+mn-ea"/>
              </a:rPr>
              <a:t>걸기"다</a:t>
            </a:r>
            <a:endParaRPr sz="1400" b="0" dirty="0">
              <a:solidFill>
                <a:srgbClr val="8A8176"/>
              </a:solidFill>
              <a:latin typeface="+mn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C3FA9E1-FBD6-0838-E4F1-5F027F454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015799"/>
              </p:ext>
            </p:extLst>
          </p:nvPr>
        </p:nvGraphicFramePr>
        <p:xfrm>
          <a:off x="635255" y="1900855"/>
          <a:ext cx="11100745" cy="20133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8097">
                  <a:extLst>
                    <a:ext uri="{9D8B030D-6E8A-4147-A177-3AD203B41FA5}">
                      <a16:colId xmlns:a16="http://schemas.microsoft.com/office/drawing/2014/main" val="2941173065"/>
                    </a:ext>
                  </a:extLst>
                </a:gridCol>
                <a:gridCol w="5542648">
                  <a:extLst>
                    <a:ext uri="{9D8B030D-6E8A-4147-A177-3AD203B41FA5}">
                      <a16:colId xmlns:a16="http://schemas.microsoft.com/office/drawing/2014/main" val="1698345176"/>
                    </a:ext>
                  </a:extLst>
                </a:gridCol>
              </a:tblGrid>
              <a:tr h="562923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하는 것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하지 않는 것</a:t>
                      </a:r>
                      <a:endParaRPr lang="en-US" altLang="ko-KR"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747369"/>
                  </a:ext>
                </a:extLst>
              </a:tr>
              <a:tr h="28146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지금 상태를 가늠할 근거를 준다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공식 자격을 판정한다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4058010"/>
                  </a:ext>
                </a:extLst>
              </a:tr>
              <a:tr h="28146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왜 그렇게 봤는지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를 응답으로 되짚어 준다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확신을 준다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583348"/>
                  </a:ext>
                </a:extLst>
              </a:tr>
              <a:tr h="28146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부담이 크면 기관으로 연결한다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서비스 신청을 대신한다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906082"/>
                  </a:ext>
                </a:extLst>
              </a:tr>
              <a:tr h="28146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모를 때는 모른다고 한다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억지로 답을 낸다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342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776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E1E7E-DBC1-2A75-0DA5-4154EF00A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개인정보를 받지 않는 설계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800232-4A3F-7AD6-FBEC-7AF62FB9C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201265"/>
            <a:ext cx="11280000" cy="98998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저장 금지 항목은 문서에 적는 대신 컬럼 자체를 만들지 않았다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참조 집단 비교도 표본 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30</a:t>
            </a: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건 미만 셀은 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DB </a:t>
            </a: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제약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(CHECK n &gt;= 30)</a:t>
            </a:r>
            <a:r>
              <a:rPr lang="ko-KR" altLang="en-US" sz="1600" b="1" dirty="0">
                <a:solidFill>
                  <a:srgbClr val="C96F4A"/>
                </a:solidFill>
                <a:latin typeface="+mn-ea"/>
              </a:rPr>
              <a:t>으로 적재를 막았다</a:t>
            </a:r>
            <a:r>
              <a:rPr lang="en-US" altLang="ko-KR" sz="1600" b="1" dirty="0">
                <a:solidFill>
                  <a:srgbClr val="C96F4A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endParaRPr lang="ko-KR" altLang="en-US" sz="1600" dirty="0"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8E3FC25-20C2-E369-4209-92572C2E5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90507"/>
              </p:ext>
            </p:extLst>
          </p:nvPr>
        </p:nvGraphicFramePr>
        <p:xfrm>
          <a:off x="635255" y="1900855"/>
          <a:ext cx="11100745" cy="25126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72719">
                  <a:extLst>
                    <a:ext uri="{9D8B030D-6E8A-4147-A177-3AD203B41FA5}">
                      <a16:colId xmlns:a16="http://schemas.microsoft.com/office/drawing/2014/main" val="2941173065"/>
                    </a:ext>
                  </a:extLst>
                </a:gridCol>
                <a:gridCol w="6928026">
                  <a:extLst>
                    <a:ext uri="{9D8B030D-6E8A-4147-A177-3AD203B41FA5}">
                      <a16:colId xmlns:a16="http://schemas.microsoft.com/office/drawing/2014/main" val="1698345176"/>
                    </a:ext>
                  </a:extLst>
                </a:gridCol>
              </a:tblGrid>
              <a:tr h="562923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원칙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endParaRPr lang="en-US" altLang="ko-KR"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747369"/>
                  </a:ext>
                </a:extLst>
              </a:tr>
              <a:tr h="28146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로그인 없음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계정 개념 자체가 없다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4058010"/>
                  </a:ext>
                </a:extLst>
              </a:tr>
              <a:tr h="28146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이름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·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연락처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별명만 받고 서버로 보내지 않는다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583348"/>
                  </a:ext>
                </a:extLst>
              </a:tr>
              <a:tr h="194977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IP 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미보관</a:t>
                      </a:r>
                      <a:endParaRPr lang="ko-KR" altLang="en-US" sz="1600" b="0" dirty="0">
                        <a:solidFill>
                          <a:srgbClr val="4A443E"/>
                        </a:solidFill>
                        <a:latin typeface="Apple SD Gothic Ne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중복 판별용 해시만 만들고 원본은 버린다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906082"/>
                  </a:ext>
                </a:extLst>
              </a:tr>
              <a:tr h="19497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위치 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미보관</a:t>
                      </a:r>
                      <a:endParaRPr lang="ko-KR" altLang="en-US" sz="1600" b="0" dirty="0">
                        <a:solidFill>
                          <a:srgbClr val="4A443E"/>
                        </a:solidFill>
                        <a:latin typeface="Apple SD Gothic Ne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기관 찾기에만 쓰고 저장하지 않는다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713017"/>
                  </a:ext>
                </a:extLst>
              </a:tr>
              <a:tr h="28146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학습 이용은 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동의제</a:t>
                      </a:r>
                      <a:endParaRPr lang="ko-KR" altLang="en-US" sz="1600" b="0" dirty="0">
                        <a:solidFill>
                          <a:srgbClr val="4A443E"/>
                        </a:solidFill>
                        <a:latin typeface="Apple SD Gothic Ne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거부해도 진단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·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연계는 똑같이 제공한다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34282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F06105-79BB-C55A-A0B8-A9FA9E347052}"/>
              </a:ext>
            </a:extLst>
          </p:cNvPr>
          <p:cNvSpPr txBox="1"/>
          <p:nvPr/>
        </p:nvSpPr>
        <p:spPr>
          <a:xfrm>
            <a:off x="635255" y="1330241"/>
            <a:ext cx="10515600" cy="35099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8A8176"/>
                </a:solidFill>
                <a:latin typeface="+mn-ea"/>
              </a:rPr>
              <a:t>돌봄부담은</a:t>
            </a:r>
            <a:r>
              <a:rPr sz="140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n-ea"/>
              </a:rPr>
              <a:t>가족의</a:t>
            </a:r>
            <a:r>
              <a:rPr sz="140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n-ea"/>
              </a:rPr>
              <a:t>건강·장애·경제</a:t>
            </a:r>
            <a:r>
              <a:rPr sz="140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n-ea"/>
              </a:rPr>
              <a:t>상황이</a:t>
            </a:r>
            <a:r>
              <a:rPr sz="140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n-ea"/>
              </a:rPr>
              <a:t>얽힌</a:t>
            </a:r>
            <a:r>
              <a:rPr sz="140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8A8176"/>
                </a:solidFill>
                <a:latin typeface="+mn-ea"/>
              </a:rPr>
              <a:t>민감정보다</a:t>
            </a:r>
            <a:endParaRPr sz="1400" b="0" dirty="0">
              <a:solidFill>
                <a:srgbClr val="8A817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6677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32EB6-B440-ED72-E4A6-85A44BDB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정직하게 남기는 한계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C000D07-1879-366C-D863-D4CEF3A88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124475"/>
              </p:ext>
            </p:extLst>
          </p:nvPr>
        </p:nvGraphicFramePr>
        <p:xfrm>
          <a:off x="635255" y="1900855"/>
          <a:ext cx="11100745" cy="2902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54500">
                  <a:extLst>
                    <a:ext uri="{9D8B030D-6E8A-4147-A177-3AD203B41FA5}">
                      <a16:colId xmlns:a16="http://schemas.microsoft.com/office/drawing/2014/main" val="2941173065"/>
                    </a:ext>
                  </a:extLst>
                </a:gridCol>
                <a:gridCol w="6446245">
                  <a:extLst>
                    <a:ext uri="{9D8B030D-6E8A-4147-A177-3AD203B41FA5}">
                      <a16:colId xmlns:a16="http://schemas.microsoft.com/office/drawing/2014/main" val="1698345176"/>
                    </a:ext>
                  </a:extLst>
                </a:gridCol>
              </a:tblGrid>
              <a:tr h="562923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한계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대응</a:t>
                      </a:r>
                      <a:endParaRPr lang="en-US" altLang="ko-KR"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747369"/>
                  </a:ext>
                </a:extLst>
              </a:tr>
              <a:tr h="28146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5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구간 정확도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48%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등급이 아니라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"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고부담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 여부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로 읽도록 설계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4058010"/>
                  </a:ext>
                </a:extLst>
              </a:tr>
              <a:tr h="28146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설명변수가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5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구간을 가를 정보를 못 담음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알고리즘 문제가 아님을 군집화로 실측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583348"/>
                  </a:ext>
                </a:extLst>
              </a:tr>
              <a:tr h="194977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최상위 설명변수를 일부러 배제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성능보다 도구의 의미를 택한 결정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. 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되돌리지 않음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906082"/>
                  </a:ext>
                </a:extLst>
              </a:tr>
              <a:tr h="194977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자발적 이용자는 전국 대표 표본이 아님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학습 데이터를 대체하지 않고 보완으로만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713017"/>
                  </a:ext>
                </a:extLst>
              </a:tr>
              <a:tr h="19497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8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개 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시군구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 데이터 미확보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준비 중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+ 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광역 문의처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로 처리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5875769"/>
                  </a:ext>
                </a:extLst>
              </a:tr>
              <a:tr h="28146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확률 보정 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미구현</a:t>
                      </a:r>
                      <a:endParaRPr lang="ko-KR" altLang="en-US" sz="1600" b="0" dirty="0">
                        <a:solidFill>
                          <a:srgbClr val="4A443E"/>
                        </a:solidFill>
                        <a:latin typeface="Apple SD Gothic Ne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계획에 있으나 코드는 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임계값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 탐색만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— 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미확인 항목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342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960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11A29-9453-8CCA-44BD-F2AB1E2C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BE0B2B9-A2E8-CC57-BF37-7A566BB87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951609"/>
              </p:ext>
            </p:extLst>
          </p:nvPr>
        </p:nvGraphicFramePr>
        <p:xfrm>
          <a:off x="635255" y="1900854"/>
          <a:ext cx="11100745" cy="3221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0797">
                  <a:extLst>
                    <a:ext uri="{9D8B030D-6E8A-4147-A177-3AD203B41FA5}">
                      <a16:colId xmlns:a16="http://schemas.microsoft.com/office/drawing/2014/main" val="2941173065"/>
                    </a:ext>
                  </a:extLst>
                </a:gridCol>
                <a:gridCol w="9159948">
                  <a:extLst>
                    <a:ext uri="{9D8B030D-6E8A-4147-A177-3AD203B41FA5}">
                      <a16:colId xmlns:a16="http://schemas.microsoft.com/office/drawing/2014/main" val="1698345176"/>
                    </a:ext>
                  </a:extLst>
                </a:gridCol>
              </a:tblGrid>
              <a:tr h="536959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ple SD Gothic Neo"/>
                        </a:rPr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전국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3,000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가구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. 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고부담이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54.3%. 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정답이 새는 변수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6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개를 성능을 포기하고 배제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583348"/>
                  </a:ext>
                </a:extLst>
              </a:tr>
              <a:tr h="536959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ple SD Gothic Neo"/>
                        </a:rPr>
                        <a:t>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군집 구조 없음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— 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정확도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48%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는 모델이 아니라 데이터의 성질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. 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나뉘는 수는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221034"/>
                  </a:ext>
                </a:extLst>
              </a:tr>
              <a:tr h="536959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ple SD Gothic Neo"/>
                        </a:rPr>
                        <a:t>문항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성능 손실 허용치를 먼저 정하고 후진 제거로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7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문항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. 14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개로 늘렸다가 되돌림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906082"/>
                  </a:ext>
                </a:extLst>
              </a:tr>
              <a:tr h="536959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ple SD Gothic Neo"/>
                        </a:rPr>
                        <a:t>성능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5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구간은 못 맞히지만 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고부담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 여부는 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재현율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0.773. 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고부담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→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"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부담없음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" 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오판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0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713017"/>
                  </a:ext>
                </a:extLst>
              </a:tr>
              <a:tr h="536959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ple SD Gothic Neo"/>
                        </a:rPr>
                        <a:t>연계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주간활동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724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곳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· </a:t>
                      </a:r>
                      <a:r>
                        <a:rPr lang="ko-KR" altLang="en-US" sz="1600" b="0" dirty="0" err="1">
                          <a:solidFill>
                            <a:srgbClr val="4A443E"/>
                          </a:solidFill>
                          <a:latin typeface="Apple SD Gothic Neo"/>
                        </a:rPr>
                        <a:t>방과후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553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곳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. 229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개 중 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221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개 커버</a:t>
                      </a:r>
                      <a:r>
                        <a:rPr lang="en-US" altLang="ko-KR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. 65</a:t>
                      </a: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세 이상도 배제 안 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5875769"/>
                  </a:ext>
                </a:extLst>
              </a:tr>
              <a:tr h="536959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ple SD Gothic Neo"/>
                        </a:rPr>
                        <a:t>의미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600" b="0" dirty="0">
                          <a:solidFill>
                            <a:srgbClr val="4A443E"/>
                          </a:solidFill>
                          <a:latin typeface="Apple SD Gothic Neo"/>
                        </a:rPr>
                        <a:t>등급을 매기는 도구가 아니라 자기 상태를 가늠하고 제도로 가는 최단 경로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342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342939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4AF436D6-C5D0-4888-B735-F871041BAD25}" vid="{FED7F7D9-BB4F-4D6A-A2F2-82AE3EC2A5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358</TotalTime>
  <Words>1567</Words>
  <Application>Microsoft Office PowerPoint</Application>
  <PresentationFormat>와이드스크린</PresentationFormat>
  <Paragraphs>252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Apple SD Gothic Neo</vt:lpstr>
      <vt:lpstr>system-ui</vt:lpstr>
      <vt:lpstr>맑은 고딕</vt:lpstr>
      <vt:lpstr>Arial</vt:lpstr>
      <vt:lpstr>Times New Roman</vt:lpstr>
      <vt:lpstr>테마1</vt:lpstr>
      <vt:lpstr>곁 — 돌봄의 무게를 읽다</vt:lpstr>
      <vt:lpstr>왜 만들었나</vt:lpstr>
      <vt:lpstr>데이터 — 2024 발달장애인 일과 삶 실태조사</vt:lpstr>
      <vt:lpstr>정답이 새는 변수 6개를 일부러 버렸다</vt:lpstr>
      <vt:lpstr>분석 결과 — 정확도 48%는 모델 탓이 아니다</vt:lpstr>
      <vt:lpstr>모델 계열 비교 — 세 후보를 같은 조건에서</vt:lpstr>
      <vt:lpstr>설문 문항을 7개로 정한 기준</vt:lpstr>
      <vt:lpstr>기준이 옳았는가 — 혼동행렬로 확인</vt:lpstr>
      <vt:lpstr>6문항은 최고부담군을 거의 못 찍는다</vt:lpstr>
      <vt:lpstr>채택된 7문항</vt:lpstr>
      <vt:lpstr>문항을 14개로 늘려 봤다가 되돌렸다</vt:lpstr>
      <vt:lpstr>성능 — 무엇을 할 수 있고 무엇을 못 하나</vt:lpstr>
      <vt:lpstr>project2608 — 돌봄부담 진단·복지연계 서비스</vt:lpstr>
      <vt:lpstr>곁_돌봄의 무게를 읽다 </vt:lpstr>
      <vt:lpstr>우리나라 발달장애인 돌봄 서비스</vt:lpstr>
      <vt:lpstr>제도의 사각지대</vt:lpstr>
      <vt:lpstr>설문으로 돌봄부담을 진단하는 의미</vt:lpstr>
      <vt:lpstr>개인정보를 받지 않는 설계</vt:lpstr>
      <vt:lpstr>정직하게 남기는 한계</vt:lpstr>
      <vt:lpstr>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Seong-Gi Jo</dc:creator>
  <cp:lastModifiedBy>Seong-Gi Jo</cp:lastModifiedBy>
  <cp:revision>7</cp:revision>
  <dcterms:created xsi:type="dcterms:W3CDTF">2026-09-02T02:33:01Z</dcterms:created>
  <dcterms:modified xsi:type="dcterms:W3CDTF">2026-09-03T00:13:01Z</dcterms:modified>
</cp:coreProperties>
</file>