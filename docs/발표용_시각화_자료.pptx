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B2724"/>
                </a:solidFill>
                <a:latin typeface="AppleGothic"/>
              </a:rPr>
              <a:t>발표용 시각화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443E"/>
                </a:solidFill>
                <a:latin typeface="AppleGothic"/>
              </a:rPr>
              <a:t>곁 — 돌봄의 무게를 읽다  ·  그래프 한 장에 하나씩
각 장은 그래프 본체와 그에 딸린 축·눈금·범례만 이미지이고, 제목과 설명은 편집 가능한 텍스트 상자다.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176"/>
                </a:solidFill>
                <a:latin typeface="AppleGothic"/>
              </a:rPr>
              <a:t>Pioneer 3 팀 · 2026-09-03 · 생성 스크립트 ml/JSG-visual-slides.py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돌봄부담 5구간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2024 발달장애인 일과 삶 실태조사 3,000가구 · 내부 라벨은 1이 최고부담인 역방향 척도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01</a:t>
            </a:r>
          </a:p>
        </p:txBody>
      </p:sp>
      <p:pic>
        <p:nvPicPr>
          <p:cNvPr id="5" name="Picture 4" descr="V01-부담분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0221"/>
            <a:ext cx="10881360" cy="25719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돌봄부담 5구간 가구 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전체 3,000가구 · 5구간(부담 없음)은 77가구뿐이라 층화 분할이 필요했다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02</a:t>
            </a:r>
          </a:p>
        </p:txBody>
      </p:sp>
      <p:pic>
        <p:nvPicPr>
          <p:cNvPr id="5" name="Picture 4" descr="V02-부담분포-건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78" y="1600200"/>
            <a:ext cx="87283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변수별 단독 설명력과 누수 배제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train 2,398건 기준 상위 18개 · 배제 1위(보호자 삶 만족도 19.06%)는 남은 최고치의 2.3배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03</a:t>
            </a:r>
          </a:p>
        </p:txBody>
      </p:sp>
      <p:pic>
        <p:nvPicPr>
          <p:cNvPr id="5" name="Picture 4" descr="V03-설명력순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360" y="1600200"/>
            <a:ext cx="7924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주성분 평면에서 본 부담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회색 = 전체 2,398건, 주황 = 해당 구간 · 어느 구간도 특정 영역에 몰리지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04</a:t>
            </a:r>
          </a:p>
        </p:txBody>
      </p:sp>
      <p:pic>
        <p:nvPicPr>
          <p:cNvPr id="5" name="Picture 4" descr="V04-PCA-구간별산점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26030"/>
            <a:ext cx="1088136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군집 수별 실루엣 계수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y 를 빼고 38변수만으로 KMeans · 전 구간 0.25 미만 = 뚜렷한 덩어리 구조 없음 · 최고는 k=2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05</a:t>
            </a:r>
          </a:p>
        </p:txBody>
      </p:sp>
      <p:pic>
        <p:nvPicPr>
          <p:cNvPr id="5" name="Picture 4" descr="V05-실루엣계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78" y="1600200"/>
            <a:ext cx="87283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군집과 실제 부담 구간의 일치도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0 = 무작위와 다를 바 없음 · 전 구간 0.03 이하로 군집 축은 부담이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06</a:t>
            </a:r>
          </a:p>
        </p:txBody>
      </p:sp>
      <p:pic>
        <p:nvPicPr>
          <p:cNvPr id="5" name="Picture 4" descr="V06-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78" y="1600200"/>
            <a:ext cx="87283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후진 제거 — 문항 수별 macro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38개에서 하나씩 제거하며 5-fold 측정 · k=7 에서 최고 0.3383, k=6 에서 급락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07</a:t>
            </a:r>
          </a:p>
        </p:txBody>
      </p:sp>
      <p:pic>
        <p:nvPicPr>
          <p:cNvPr id="5" name="Picture 4" descr="V07-문항수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7" y="1600200"/>
            <a:ext cx="108065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후진 제거 — 문항 수별 고부담 재현율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하한 0.70 을 한 번도 깨지 않았다 · k=7 에서 0.7843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08</a:t>
            </a:r>
          </a:p>
        </p:txBody>
      </p:sp>
      <p:pic>
        <p:nvPicPr>
          <p:cNvPr id="5" name="Picture 4" descr="V08-문항수-재현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7" y="1600200"/>
            <a:ext cx="108065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고부담 여부 혼동행렬 — 38문항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교차검증 2,398건 · 재현율 0.7636 · macro F1 0.3180 · 셀 안은 건수와 행 기준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09</a:t>
            </a:r>
          </a:p>
        </p:txBody>
      </p:sp>
      <p:pic>
        <p:nvPicPr>
          <p:cNvPr id="5" name="Picture 4" descr="V09-혼동행렬2x2-38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74" y="1600200"/>
            <a:ext cx="49749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고부담 여부 혼동행렬 — 7문항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교차검증 2,398건 · 재현율 0.7843 · macro F1 0.3383 · 셀 안은 건수와 행 기준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10</a:t>
            </a:r>
          </a:p>
        </p:txBody>
      </p:sp>
      <p:pic>
        <p:nvPicPr>
          <p:cNvPr id="5" name="Picture 4" descr="V09-혼동행렬2x2-7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74" y="1600200"/>
            <a:ext cx="49749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고부담 여부 혼동행렬 — 6문항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교차검증 2,398건 · 재현율 0.7851 · macro F1 0.2951 · 셀 안은 건수와 행 기준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11</a:t>
            </a:r>
          </a:p>
        </p:txBody>
      </p:sp>
      <p:pic>
        <p:nvPicPr>
          <p:cNvPr id="5" name="Picture 4" descr="V09-혼동행렬2x2-6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74" y="1600200"/>
            <a:ext cx="49749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5구간 혼동행렬 — 7문항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교차검증 2,398건 · 최고부담군 재현율 0.183 · 최고부담군으로 예측한 건수 147건 · macro F1 0.3383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12</a:t>
            </a:r>
          </a:p>
        </p:txBody>
      </p:sp>
      <p:pic>
        <p:nvPicPr>
          <p:cNvPr id="5" name="Picture 4" descr="V12-혼동행렬5x5-7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189" y="1600200"/>
            <a:ext cx="522514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5구간 혼동행렬 — 6문항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교차검증 2,398건 · 최고부담군 재현율 0.054 · 최고부담군으로 예측한 건수 44건 · macro F1 0.2951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13</a:t>
            </a:r>
          </a:p>
        </p:txBody>
      </p:sp>
      <p:pic>
        <p:nvPicPr>
          <p:cNvPr id="5" name="Picture 4" descr="V12-혼동행렬5x5-6문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189" y="1600200"/>
            <a:ext cx="522514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macro F1 (test 602건)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차이 0.0004 — 사실상 같다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14</a:t>
            </a:r>
          </a:p>
        </p:txBody>
      </p:sp>
      <p:pic>
        <p:nvPicPr>
          <p:cNvPr id="5" name="Picture 4" descr="V14-7vs14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24" y="1600200"/>
            <a:ext cx="54032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고부담 재현율 (test 602건)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문항을 늘렸는데 7문항이 오히려 높다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15</a:t>
            </a:r>
          </a:p>
        </p:txBody>
      </p:sp>
      <p:pic>
        <p:nvPicPr>
          <p:cNvPr id="5" name="Picture 4" descr="V15-7vs14-재현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24" y="1600200"/>
            <a:ext cx="54032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판정 불가 비율 (test 602건)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낮을수록 좋다 — 14문항이 1.7배 · 원인은 78범주짜리 나이 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16</a:t>
            </a:r>
          </a:p>
        </p:txBody>
      </p:sp>
      <p:pic>
        <p:nvPicPr>
          <p:cNvPr id="5" name="Picture 4" descr="V16-7vs14-판정불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24" y="1600200"/>
            <a:ext cx="54032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724"/>
                </a:solidFill>
                <a:latin typeface="AppleGothic"/>
              </a:rPr>
              <a:t>원-핫 설계행렬 열 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A8176"/>
                </a:solidFill>
                <a:latin typeface="AppleGothic"/>
              </a:rPr>
              <a:t>낮을수록 단순하다 — 4.2배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8176"/>
                </a:solidFill>
                <a:latin typeface="AppleGothic"/>
              </a:rPr>
              <a:t>17</a:t>
            </a:r>
          </a:p>
        </p:txBody>
      </p:sp>
      <p:pic>
        <p:nvPicPr>
          <p:cNvPr id="5" name="Picture 4" descr="V17-7vs14-열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124" y="1600200"/>
            <a:ext cx="5403272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