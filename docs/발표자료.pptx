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011680" cy="38100"/>
          </a:xfrm>
          <a:prstGeom prst="rect">
            <a:avLst/>
          </a:prstGeom>
          <a:solidFill>
            <a:srgbClr val="C9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4600" b="1">
                <a:solidFill>
                  <a:srgbClr val="2B2724"/>
                </a:solidFill>
                <a:latin typeface="Apple SD Gothic Neo"/>
              </a:rPr>
              <a:t>곁 — 돌봄의 무게를 읽다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4A443E"/>
                </a:solidFill>
                <a:latin typeface="Apple SD Gothic Neo"/>
              </a:rPr>
              <a:t>발달장애인 보호자 돌봄부담 경량 진단 및 복지서비스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Pioneer 3 팀   ·   2026-09-01   ·   https://p3.sumzip.com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왜 만들었나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0">
                <a:solidFill>
                  <a:srgbClr val="4A443E"/>
                </a:solidFill>
                <a:latin typeface="Apple SD Gothic Neo"/>
              </a:rPr>
              <a:t>발달장애인 보호자의 돌봄부담은 본인도 자기 상태를 객관적으로 보기 어렵다.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0">
                <a:solidFill>
                  <a:srgbClr val="4A443E"/>
                </a:solidFill>
                <a:latin typeface="Apple SD Gothic Neo"/>
              </a:rPr>
              <a:t>"다들 이 정도는 하고 산다"고 여기며 버티다 한계에 다다르는 경우가 많다.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0">
                <a:solidFill>
                  <a:srgbClr val="4A443E"/>
                </a:solidFill>
                <a:latin typeface="Apple SD Gothic Neo"/>
              </a:rPr>
              <a:t>그런데 지원 제도는 본인이 찾아와 신청해야 작동한다.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100" b="1">
                <a:solidFill>
                  <a:srgbClr val="C96F4A"/>
                </a:solidFill>
                <a:latin typeface="Apple SD Gothic Neo"/>
              </a:rPr>
              <a:t>부담이 클수록 알아볼 여력이 없다는 역설이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짧은 설문으로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709160"/>
            <a:ext cx="8138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지금의 돌봄부담이 어느 수준인지 가늠할 근거를 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38344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판단 근거를 함께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38344"/>
            <a:ext cx="8138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"왜 그렇게 봤는지"를 응답으로 되짚어 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67528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즉시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367528"/>
            <a:ext cx="8138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부담이 크면 추가 조작 없이 가까운 접수처 3곳을 보여준다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데이터 — 2024 발달장애인 일과 삶 실태조사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전국 대표 표본 3,000가구 · 정제 후 설명변수 38개 · train 2,398 / test 602</a:t>
            </a:r>
          </a:p>
        </p:txBody>
      </p:sp>
      <p:pic>
        <p:nvPicPr>
          <p:cNvPr id="6" name="Picture 5" descr="A-부담분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10515600" cy="2867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2B2724"/>
                </a:solidFill>
                <a:latin typeface="Apple SD Gothic Neo"/>
              </a:rPr>
              <a:t>고부담(1~2단계)이 1,629가구, 절반을 넘는다. 반대로 "부담 없음"은 77건뿐이다.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돌봄부담은 예외가 아니라 기본값에 가깝다.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척도 주의 — 숫자가 작을수록 부담이 크다. 서비스는 표시 명칭으로만 노출한다.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정답이 새는 변수 6개를 일부러 버렸다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예측 대상(I13)과 같은 블록이거나 같은 것을 재는 변수</a:t>
            </a:r>
          </a:p>
        </p:txBody>
      </p:sp>
      <p:pic>
        <p:nvPicPr>
          <p:cNvPr id="6" name="Picture 5" descr="D-설명력순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7381568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2377440"/>
            <a:ext cx="42976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버린 것 중 1위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보호자 삶 만족도 19.06%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남은 38개 중 최고(8.23%)의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2.3배다.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넣으면 성적은 오른다.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그런데 "보호자 만족도로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보호자 부담을 예측"하는 것은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동어반복이다.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5623560"/>
            <a:ext cx="4297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성능을 포기하고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도구로서의 의미를 택했다.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분석 결과 — 정확도 48%는 모델 탓이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정답(y)을 빼고 38개 설명변수만으로 군집을 찾아본 결과</a:t>
            </a:r>
          </a:p>
        </p:txBody>
      </p:sp>
      <p:pic>
        <p:nvPicPr>
          <p:cNvPr id="6" name="Picture 5" descr="E-군집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0515600" cy="2907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3212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>
                <a:solidFill>
                  <a:srgbClr val="2B2724"/>
                </a:solidFill>
                <a:latin typeface="Apple SD Gothic Neo"/>
              </a:rPr>
              <a:t>설명변수가 돌봄부담을 5구간으로 가를 만큼의 정보를 담고 있지 않다. 알고리즘을 바꿔도 오르지 않는다.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>
                <a:solidFill>
                  <a:srgbClr val="2B2724"/>
                </a:solidFill>
                <a:latin typeface="Apple SD Gothic Neo"/>
              </a:rPr>
              <a:t>그리고 자연스럽게 나뉘는 수는 2다 — 이 서비스가 답해야 하는 질문도 "고부담이냐 아니냐"다.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모델 계열 비교 — 세 후보를 같은 조건에서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38변수 전체 · 같은 5-fold · 같은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6576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계열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377440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macro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고부담 재현율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77440"/>
            <a:ext cx="14630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10515600" cy="1270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36576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다항 로지스틱 회귀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06624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0.3180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06624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0.7636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706624"/>
            <a:ext cx="14630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채택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36576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랜덤 포레스트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35808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0.2894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35808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0.7552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35808"/>
            <a:ext cx="14630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1"/>
            <a:ext cx="36576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엑스트라 트리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64991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0.2668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64991"/>
            <a:ext cx="2377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0.7544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364991"/>
            <a:ext cx="14630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84048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트리 계열이 진 이유는 데이터 규모에 있다. 3,000건에 5개 클래스, 그중 "부담 없음"은 61건뿐이다.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상호작용을 배우기엔 표본이 얇아 단순한 모델이 과적합을 덜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C96F4A"/>
                </a:solidFill>
                <a:latin typeface="Apple SD Gothic Neo"/>
              </a:rPr>
              <a:t>부수 효과가 컸다 — 로지스틱에서는 기여 요인이 근사가 아니라 정확히 분해된다.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C96F4A"/>
                </a:solidFill>
                <a:latin typeface="Apple SD Gothic Neo"/>
              </a:rPr>
              <a:t>"왜 이 판정인가"를 산술적으로 닫힌 형태로 설명할 수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설문 문항을 7개로 정한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단독 설명력 순위로 자르지 않았다 — 변수 간 중복을 반영하지 못하기 때문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93192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후진 제거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1  38개 전체로 기준 모델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2  덜 기여하는 변수를 하나씩 제거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3  뺄 때마다 5-fold 로 측정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4  아래를 깨는 순간 정지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        F1 손실 ≤ 0.03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        재현율 손실 ≤ 0.05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        재현율 ≥ 0.70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5  최소 집합 채택</a:t>
            </a:r>
          </a:p>
        </p:txBody>
      </p:sp>
      <p:pic>
        <p:nvPicPr>
          <p:cNvPr id="7" name="Picture 6" descr="C-문항수곡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6766560" cy="3813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C96F4A"/>
                </a:solidFill>
                <a:latin typeface="Apple SD Gothic Neo"/>
              </a:rPr>
              <a:t>성능 손실 허용치를 먼저 정하고 문항 수를 결과로 얻었다. "30문항으로 하자" 같은 사전 결정을 하지 않았다.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기준이 옳았는가 — 혼동행렬로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선정 기준은 정지 조건이지만, 그 조건이 옳았음을 보여주는 것은 혼동행렬이다</a:t>
            </a:r>
          </a:p>
        </p:txBody>
      </p:sp>
      <p:pic>
        <p:nvPicPr>
          <p:cNvPr id="6" name="Picture 5" descr="B-혼동행렬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10515600" cy="35886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029200"/>
            <a:ext cx="105156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38 → 7: 31개를 버렸는데 오류 구조가 그대로다. 재현율은 오히려 0.764 → 0.784 로 올랐다.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그런데 2×2 로만 보면 6문항도 멀쩡해 보인다 — 재현율 0.785 로 더 높다.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왜 6에서 멈췄는지는 5구간으로 봐야 드러난다.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6문항은 최고부담군을 거의 못 찍는다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2×2 로는 같아 보이지만 5구간으로 보면 다르다 · 교차검증 2,398건</a:t>
            </a:r>
          </a:p>
        </p:txBody>
      </p:sp>
      <p:pic>
        <p:nvPicPr>
          <p:cNvPr id="6" name="Picture 5" descr="B-혼동행렬5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10835640" cy="4740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150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50" b="1">
                <a:solidFill>
                  <a:srgbClr val="2B2724"/>
                </a:solidFill>
                <a:latin typeface="Apple SD Gothic Neo"/>
              </a:rPr>
              <a:t>최고부담군 재현율 0.183 → 0.054.  예측 건수 147 → 44.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50" b="1">
                <a:solidFill>
                  <a:srgbClr val="2B2724"/>
                </a:solidFill>
                <a:latin typeface="Apple SD Gothic Neo"/>
              </a:rPr>
              <a:t>전체 정확도는 0.463 → 0.458 로 거의 같은데, 가장 도움이 절실한 구간을 가려내는 능력만 사라진다.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채택된 7문항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2B2724"/>
                </a:solidFill>
                <a:latin typeface="Apple SD Gothic Neo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2B2724"/>
                </a:solidFill>
                <a:latin typeface="Apple SD Gothic Neo"/>
              </a:rPr>
              <a:t>원 문항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194560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2B2724"/>
                </a:solidFill>
                <a:latin typeface="Apple SD Gothic Neo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194560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2B2724"/>
                </a:solidFill>
                <a:latin typeface="Apple SD Gothic Neo"/>
              </a:rPr>
              <a:t>단독 설명력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79"/>
            <a:ext cx="10515600" cy="1270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23744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G8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23744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당사자는 요즘 하루하루의 일과를 어떻게 느끼고 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523744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3.51%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52927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52927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F5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52927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당사자의 취업에 대해 가족들이 어느 정도 지지하고 있나요?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852927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3.94%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82111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82111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G6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182111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하루 중 어느 정도의 도움이 필요한가요?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182111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8.23%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11295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11295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I4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511295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가구의 생계를 주로 책임지는 분은 누구인가요?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511295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1.67%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40479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40479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E4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840479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마지막 일자리를 그만둔 가장 큰 이유는?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840479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1.15%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169663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69663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A1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169663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응답하시는 분은 당사자와 어떤 관계인가요?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169663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1.18%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498848"/>
            <a:ext cx="548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498848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498848"/>
            <a:ext cx="6858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"일을 한다"는 것의 의미를 어느 정도 이해하나요?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498848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7.98%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02920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단독 1·2위(G6·F1)는 살아남았지만 3위(통상근로 가능 여부)는 탈락했다.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F1(근로 의미 이해도)과 정보가 겹쳤기 때문이다 — 후진 제거가 중복을 걸러낸 결과다.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문항을 14개로 늘려 봤다가 되돌렸다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7문항으로 "고부담군입니다"라고 하면 신뢰하기 어렵다는 판단에서 출발했다</a:t>
            </a:r>
          </a:p>
        </p:txBody>
      </p:sp>
      <p:pic>
        <p:nvPicPr>
          <p:cNvPr id="6" name="Picture 5" descr="F-판정불가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0515600" cy="35886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557784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60350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원인은 나이 변수다. 보호자 나이는 한 살 단위 78개 범주라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"57세"는 학습 데이터의 1.3%뿐 — 희소한 조합으로 분류되어 판정 불가가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760720"/>
            <a:ext cx="4206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C96F4A"/>
                </a:solidFill>
                <a:latin typeface="Apple SD Gothic Neo"/>
              </a:rPr>
              <a:t>응답 부담은 늘리고, 결과를 못 받는 사람도 늘렸으며,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C96F4A"/>
                </a:solidFill>
                <a:latin typeface="Apple SD Gothic Neo"/>
              </a:rPr>
              <a:t>정확도는 얻지 못했다 → 7문항 복귀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성능 — 무엇을 할 수 있고 무엇을 못 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029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8A8176"/>
                </a:solidFill>
                <a:latin typeface="Apple SD Gothic Neo"/>
              </a:rPr>
              <a:t>5구간은 정확히 못 맞힌다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50292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정확도 47.8%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(무작위 20% · 최빈값 38.7%)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/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"부담 없음" 16건은 하나도 못 맞혔다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194560"/>
            <a:ext cx="18288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C96F4A"/>
                </a:solidFill>
                <a:latin typeface="Apple SD Gothic Neo"/>
              </a:rPr>
              <a:t>고부담 여부는 가려낸다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97480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4A443E"/>
                </a:solidFill>
                <a:latin typeface="Apple SD Gothic Neo"/>
              </a:rPr>
              <a:t>재현율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697480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4A443E"/>
                </a:solidFill>
                <a:latin typeface="Apple SD Gothic Neo"/>
              </a:rPr>
              <a:t>0.773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26664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4A443E"/>
                </a:solidFill>
                <a:latin typeface="Apple SD Gothic Neo"/>
              </a:rPr>
              <a:t>정밀도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26664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4A443E"/>
                </a:solidFill>
                <a:latin typeface="Apple SD Gothic Neo"/>
              </a:rPr>
              <a:t>0.695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55848"/>
            <a:ext cx="20116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4A443E"/>
                </a:solidFill>
                <a:latin typeface="Apple SD Gothic Neo"/>
              </a:rPr>
              <a:t>정확도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55848"/>
            <a:ext cx="1828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4A443E"/>
                </a:solidFill>
                <a:latin typeface="Apple SD Gothic Neo"/>
              </a:rPr>
              <a:t>0.696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9768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2B2724"/>
                </a:solidFill>
                <a:latin typeface="Apple SD Gothic Neo"/>
              </a:rPr>
              <a:t>실제 고부담 보호자의 77.3%를 잡아낸다.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2B2724"/>
                </a:solidFill>
                <a:latin typeface="Apple SD Gothic Neo"/>
              </a:rPr>
              <a:t>그리고 고부담인 사람을 "부담 없음"으로 판정한 경우는 test 602건 중 0건이다.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8A8176"/>
                </a:solidFill>
                <a:latin typeface="Apple SD Gothic Neo"/>
              </a:rPr>
              <a:t>설계로 만든 결과다 — 판정 시 1·2단계 확률에 1.1배를 곱한다.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8A8176"/>
                </a:solidFill>
                <a:latin typeface="Apple SD Gothic Neo"/>
              </a:rPr>
              <a:t>이 값은 사람이 고른 것이 아니라 "재현율 0.73 이상 중 macro F1 최대" 규칙이 자동으로 찾았다.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우리나라 발달장애인 돌봄 서비스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기관 데이터에 실제로 존재하는 두 제도만 안내한다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B2724"/>
                </a:solidFill>
                <a:latin typeface="Apple SD Gothic Neo"/>
              </a:rPr>
              <a:t>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194560"/>
            <a:ext cx="1737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B2724"/>
                </a:solidFill>
                <a:latin typeface="Apple SD Gothic Neo"/>
              </a:rP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194560"/>
            <a:ext cx="914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B2724"/>
                </a:solidFill>
                <a:latin typeface="Apple SD Gothic Neo"/>
              </a:rPr>
              <a:t>기관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10972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B2724"/>
                </a:solidFill>
                <a:latin typeface="Apple SD Gothic Neo"/>
              </a:rPr>
              <a:t>시군구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79"/>
            <a:ext cx="6949440" cy="1270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23744"/>
            <a:ext cx="3200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발달장애인 주간활동서비스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23744"/>
            <a:ext cx="1737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만 18~64세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523744"/>
            <a:ext cx="914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724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23744"/>
            <a:ext cx="10972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217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7"/>
            <a:ext cx="3200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청소년 방과후활동서비스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852927"/>
            <a:ext cx="1737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만 6~17세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852927"/>
            <a:ext cx="914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553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52927"/>
            <a:ext cx="10972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A443E"/>
                </a:solidFill>
                <a:latin typeface="Apple SD Gothic Neo"/>
              </a:rPr>
              <a:t>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67665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주간활동 — 성인 발달장애인이 낮 시간에 지역사회에서 활동하도록 지원한다.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보호자에게는 낮 시간의 돌봄 공백을 메워 주는 거의 유일한 제도다.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/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방과후활동 — 학교가 끝난 뒤부터 보호자 퇴근까지의 공백을 다룬다.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676656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676656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전국 229개 시군구 중 221개 확보 (96.5%)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미확보 8개는 "정보 준비 중 + 광역 문의처"로 안내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/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대전은 34곳 — 중구 8 · 유성구 8 · 동구 7 · 서구 6 · 대덕구 5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0">
                <a:solidFill>
                  <a:srgbClr val="4A443E"/>
                </a:solidFill>
                <a:latin typeface="Apple SD Gothic Neo"/>
              </a:rPr>
              <a:t>이 중 26곳이 두 유형을 모두 제공한다</a:t>
            </a:r>
          </a:p>
        </p:txBody>
      </p:sp>
      <p:pic>
        <p:nvPicPr>
          <p:cNvPr id="22" name="Picture 21" descr="H-대전지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783080"/>
            <a:ext cx="440965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제도의 사각지대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-사각지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10515600" cy="4201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94960"/>
            <a:ext cx="105156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만 65세 이상 발달장애인은 제도의 틈에 놓인다 — 장애인 서비스에서는 나이가 많고,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노인 서비스에서는 발달장애 특성이 고려되지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이 서비스의 목적이 사각지대 발굴이므로 화면에서 배제하지 않는다. 연령 매핑은 자격 판정이 아니다.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설문으로 돌봄부담을 진단하는 의미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정확한 진단이 아니라 "말 걸기"다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377440"/>
            <a:ext cx="4663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하지 않는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10515600" cy="1270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06624"/>
            <a:ext cx="5852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지금 상태를 가늠할 근거를 준다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06624"/>
            <a:ext cx="4663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공식 자격을 판정한다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5852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"왜 그렇게 봤는지"를 응답으로 되짚어 준다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35808"/>
            <a:ext cx="4663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확신을 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64991"/>
            <a:ext cx="5852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부담이 크면 기관으로 연결한다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64991"/>
            <a:ext cx="4663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서비스 신청을 대신한다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5852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모를 때는 모른다고 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94176"/>
            <a:ext cx="46634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억지로 답을 낸다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056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32918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① 객관화의 계기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"다들 이 정도"라고 여기던 것이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전국 3,000가구 분포에서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어디쯤인지 보인다.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709160"/>
            <a:ext cx="32918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② 제도로 가는 최단 경로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고부담이면 추가 조작 없이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접수처 3곳이 바로 나온다.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709160"/>
            <a:ext cx="3200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③ 2분 안에 끝난다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부담이 큰 사람이 끝까지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갈 수 있는 분량이어야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4A443E"/>
                </a:solidFill>
                <a:latin typeface="Apple SD Gothic Neo"/>
              </a:rPr>
              <a:t>의미가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개인정보를 받지 않는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8A8176"/>
                </a:solidFill>
                <a:latin typeface="Apple SD Gothic Neo"/>
              </a:rPr>
              <a:t>돌봄부담은 가족의 건강·장애·경제 상황이 얽힌 민감정보다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2918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72237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B2724"/>
                </a:solidFill>
                <a:latin typeface="Apple SD Gothic Neo"/>
              </a:rPr>
              <a:t>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10515600" cy="1270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06624"/>
            <a:ext cx="32918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로그인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06624"/>
            <a:ext cx="72237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계정 개념 자체가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32918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이름·연락처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35808"/>
            <a:ext cx="72237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별명만 받고 서버로 보내지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64991"/>
            <a:ext cx="32918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IP 미보관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64991"/>
            <a:ext cx="72237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중복 판별용 해시만 만들고 원본은 버린다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32918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위치 미보관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94176"/>
            <a:ext cx="72237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기관 찾기에만 쓰고 저장하지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32918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학습 이용은 동의제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023360"/>
            <a:ext cx="72237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A443E"/>
                </a:solidFill>
                <a:latin typeface="Apple SD Gothic Neo"/>
              </a:rPr>
              <a:t>거부해도 진단·연계는 똑같이 제공한다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46320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저장 금지 항목은 문서에 적는 대신 컬럼 자체를 만들지 않았다.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참조 집단 비교도 표본 30건 미만 셀은 DB 제약(CHECK n &gt;= 30)으로 적재를 막았다.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정직하게 남기는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B2724"/>
                </a:solidFill>
                <a:latin typeface="Apple SD Gothic Neo"/>
              </a:rPr>
              <a:t>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0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B2724"/>
                </a:solidFill>
                <a:latin typeface="Apple SD Gothic Neo"/>
              </a:rPr>
              <a:t>대응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515600" cy="1270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5구간 정확도 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15184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등급이 아니라 "고부담 여부"로 읽도록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44368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설명변수가 5구간을 가를 정보를 못 담음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44368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알고리즘 문제가 아님을 군집화로 실측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1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최상위 설명변수를 일부러 배제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73551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성능보다 도구의 의미를 택한 결정. 되돌리지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5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자발적 이용자는 전국 대표 표본이 아님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602735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학습 데이터를 대체하지 않고 보완으로만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8개 시군구 데이터 미확보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31920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"준비 중 + 광역 문의처"로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61104"/>
            <a:ext cx="5120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확률 보정 미구현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61104"/>
            <a:ext cx="5394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계획에 있으나 코드는 임계값 탐색만 — 미확인 항목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C96F4A"/>
                </a:solidFill>
                <a:latin typeface="Apple SD Gothic Neo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B2724"/>
                </a:solidFill>
                <a:latin typeface="Apple SD Gothic Neo"/>
              </a:rPr>
              <a:t>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10515600" cy="15240"/>
          </a:xfrm>
          <a:prstGeom prst="rect">
            <a:avLst/>
          </a:prstGeom>
          <a:solidFill>
            <a:srgbClr val="E4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286000"/>
            <a:ext cx="8961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전국 3,000가구. 고부담이 54.3%. 정답이 새는 변수 6개를 성능을 포기하고 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971800"/>
            <a:ext cx="8961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군집 구조 없음 — 정확도 48%는 모델이 아니라 데이터의 성질. 나뉘는 수는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문항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657600"/>
            <a:ext cx="8961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성능 손실 허용치를 먼저 정하고 후진 제거로 7문항. 14개로 늘렸다가 되돌림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성능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343400"/>
            <a:ext cx="8961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5구간은 못 맞히지만 고부담 여부는 재현율 0.773. 고부담→"부담없음" 오판 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029200"/>
            <a:ext cx="8961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주간활동 724곳 · 방과후 553곳. 229개 중 221개 커버. 65세 이상도 배제 안 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96F4A"/>
                </a:solidFill>
                <a:latin typeface="Apple SD Gothic Neo"/>
              </a:rPr>
              <a:t>의미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715000"/>
            <a:ext cx="8961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4A443E"/>
                </a:solidFill>
                <a:latin typeface="Apple SD Gothic Neo"/>
              </a:rPr>
              <a:t>등급을 매기는 도구가 아니라 자기 상태를 가늠하고 제도로 가는 최단 경로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