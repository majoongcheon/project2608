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78" r:id="rId3"/>
    <p:sldId id="279" r:id="rId4"/>
    <p:sldId id="259" r:id="rId5"/>
    <p:sldId id="280" r:id="rId6"/>
    <p:sldId id="281" r:id="rId7"/>
    <p:sldId id="257" r:id="rId8"/>
    <p:sldId id="260" r:id="rId9"/>
    <p:sldId id="282" r:id="rId10"/>
    <p:sldId id="283" r:id="rId11"/>
    <p:sldId id="284" r:id="rId12"/>
    <p:sldId id="286" r:id="rId13"/>
    <p:sldId id="287" r:id="rId14"/>
    <p:sldId id="263" r:id="rId15"/>
    <p:sldId id="266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285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176"/>
    <a:srgbClr val="F8CBAD"/>
    <a:srgbClr val="EB6834"/>
    <a:srgbClr val="E6EBF1"/>
    <a:srgbClr val="FF6600"/>
    <a:srgbClr val="6699FF"/>
    <a:srgbClr val="0000FF"/>
    <a:srgbClr val="EFE7DC"/>
    <a:srgbClr val="FFFAF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701" autoAdjust="0"/>
  </p:normalViewPr>
  <p:slideViewPr>
    <p:cSldViewPr snapToGrid="0">
      <p:cViewPr>
        <p:scale>
          <a:sx n="75" d="100"/>
          <a:sy n="75" d="100"/>
        </p:scale>
        <p:origin x="97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E56694A-9777-9DE2-4170-A4B9E1084D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BCE4BD-1765-6BD8-ECA9-432D01D354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99EC0-366F-4572-88D5-93D10E79A156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559DA1-6F67-8EDC-4311-2BCFD92BE9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23DDF3-89E6-CF7C-A622-3A167CF7A7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D24CE-610C-4541-9AC7-EADFD37F8C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3451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C6F6D-635F-4EE8-9A1E-B0D4376671AE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E259B-CE89-48A3-B3D1-300B69500A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061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>
                <a:solidFill>
                  <a:srgbClr val="2B2724"/>
                </a:solidFill>
                <a:latin typeface="AppleGothic"/>
              </a:rPr>
              <a:t>설문 </a:t>
            </a:r>
            <a:r>
              <a:rPr lang="ko-KR" altLang="en-US" b="1" dirty="0" err="1">
                <a:solidFill>
                  <a:srgbClr val="2B2724"/>
                </a:solidFill>
                <a:latin typeface="AppleGothic"/>
              </a:rPr>
              <a:t>원자료</a:t>
            </a:r>
            <a:r>
              <a:rPr lang="ko-KR" altLang="en-US" b="1" dirty="0">
                <a:solidFill>
                  <a:srgbClr val="2B2724"/>
                </a:solidFill>
                <a:latin typeface="AppleGothic"/>
              </a:rPr>
              <a:t> </a:t>
            </a:r>
            <a:r>
              <a:rPr lang="en-US" altLang="ko-KR" b="1" dirty="0">
                <a:solidFill>
                  <a:srgbClr val="2B2724"/>
                </a:solidFill>
                <a:latin typeface="AppleGothic"/>
              </a:rPr>
              <a:t>507</a:t>
            </a:r>
            <a:r>
              <a:rPr lang="ko-KR" altLang="en-US" b="1" dirty="0">
                <a:solidFill>
                  <a:srgbClr val="2B2724"/>
                </a:solidFill>
                <a:latin typeface="AppleGothic"/>
              </a:rPr>
              <a:t>컬럼에서 </a:t>
            </a:r>
            <a:r>
              <a:rPr lang="en-US" altLang="ko-KR" b="1" dirty="0">
                <a:solidFill>
                  <a:srgbClr val="2B2724"/>
                </a:solidFill>
                <a:latin typeface="AppleGothic"/>
              </a:rPr>
              <a:t>7</a:t>
            </a:r>
            <a:r>
              <a:rPr lang="ko-KR" altLang="en-US" b="1" dirty="0">
                <a:solidFill>
                  <a:srgbClr val="2B2724"/>
                </a:solidFill>
                <a:latin typeface="AppleGothic"/>
              </a:rPr>
              <a:t>문항 웹 서비스까지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305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308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센티널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빈칸임을 나타내는 약속된 값.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평균으로 채우지 않고 "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없음"을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하나의 답으로 둔다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원-핫 = 선택지마다 칸을 하나씩 만들어 고른 칸에만 1을 넣는 것</a:t>
            </a:r>
            <a:endParaRPr lang="en-US" altLang="ko-K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052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rgbClr val="8A8176"/>
                </a:solidFill>
                <a:latin typeface="+mn-ea"/>
              </a:rPr>
              <a:t>예측 대상</a:t>
            </a:r>
            <a:r>
              <a:rPr lang="en-US" altLang="ko-KR" sz="1200" b="1" dirty="0">
                <a:solidFill>
                  <a:srgbClr val="8A8176"/>
                </a:solidFill>
                <a:latin typeface="+mn-ea"/>
              </a:rPr>
              <a:t>(I13)</a:t>
            </a:r>
            <a:r>
              <a:rPr lang="ko-KR" altLang="en-US" sz="1200" b="1" dirty="0">
                <a:solidFill>
                  <a:srgbClr val="8A8176"/>
                </a:solidFill>
                <a:latin typeface="+mn-ea"/>
              </a:rPr>
              <a:t>과 같은 블록이거나 같은 것을 재는 변수 </a:t>
            </a:r>
            <a:r>
              <a:rPr lang="en-US" altLang="ko-KR" sz="1200" b="1" dirty="0">
                <a:solidFill>
                  <a:srgbClr val="8A8176"/>
                </a:solidFill>
                <a:latin typeface="+mn-ea"/>
              </a:rPr>
              <a:t>(I14) </a:t>
            </a:r>
            <a:r>
              <a:rPr lang="ko-KR" altLang="en-US" sz="1200" b="1" dirty="0">
                <a:solidFill>
                  <a:srgbClr val="8A8176"/>
                </a:solidFill>
                <a:latin typeface="+mn-ea"/>
              </a:rPr>
              <a:t>보호자 삶 만족도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0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OOF = 교차검증에서 각 조각이 자기가 안 본 데이터를 예측한 것을 모은 것.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또는 아예 우리말로 — </a:t>
            </a:r>
            <a:r>
              <a:rPr lang="ko-KR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"검증용으로 남긴 예측 전체에서 고르고 그 위에서 채점했다“</a:t>
            </a:r>
            <a:endParaRPr lang="en-US" altLang="ko-K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404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Gower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ko-KR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숫자·범주가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섞인 자료에서 사람 사이 거리를 재는 방법 · </a:t>
            </a:r>
            <a:endParaRPr lang="en-US" altLang="ko-K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PAM = 실제 응답자 한 명을 중심으로 삼는 군집화</a:t>
            </a:r>
            <a:endParaRPr lang="en-US" altLang="ko-K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널 = 각 열을 따로 섞어 관계를 지운 가짜 데이터.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구조가 확실히 없는 것과 견준다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게이트 = 설문 분기.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"취업 경험 없음" 하나가 컬럼 수십 개를 동시에 비우므로 분기 자체를 변수로 세웠다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200" b="1" dirty="0">
                <a:solidFill>
                  <a:srgbClr val="EB6834"/>
                </a:solidFill>
                <a:latin typeface="+mn-ea"/>
              </a:rPr>
              <a:t>실측 실루엣 </a:t>
            </a:r>
            <a:r>
              <a:rPr lang="en-US" altLang="ko-KR" sz="1200" b="1" dirty="0">
                <a:solidFill>
                  <a:srgbClr val="EB6834"/>
                </a:solidFill>
                <a:latin typeface="+mn-ea"/>
              </a:rPr>
              <a:t>0.1179 · </a:t>
            </a:r>
            <a:r>
              <a:rPr lang="ko-KR" altLang="en-US" sz="1200" b="1" dirty="0">
                <a:solidFill>
                  <a:srgbClr val="EB6834"/>
                </a:solidFill>
                <a:latin typeface="+mn-ea"/>
              </a:rPr>
              <a:t>널 평균 </a:t>
            </a:r>
            <a:r>
              <a:rPr lang="en-US" altLang="ko-KR" sz="1200" b="1" dirty="0">
                <a:solidFill>
                  <a:srgbClr val="EB6834"/>
                </a:solidFill>
                <a:latin typeface="+mn-ea"/>
              </a:rPr>
              <a:t>0.0043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>
                <a:solidFill>
                  <a:srgbClr val="EB6834"/>
                </a:solidFill>
                <a:latin typeface="+mn-ea"/>
              </a:rPr>
              <a:t>p = 0.000 · </a:t>
            </a:r>
            <a:r>
              <a:rPr lang="ko-KR" altLang="en-US" sz="1200" b="1" dirty="0">
                <a:solidFill>
                  <a:srgbClr val="EB6834"/>
                </a:solidFill>
                <a:latin typeface="+mn-ea"/>
              </a:rPr>
              <a:t>널 대비 </a:t>
            </a:r>
            <a:r>
              <a:rPr lang="en-US" altLang="ko-KR" sz="1200" b="1" dirty="0">
                <a:solidFill>
                  <a:srgbClr val="EB6834"/>
                </a:solidFill>
                <a:latin typeface="+mn-ea"/>
              </a:rPr>
              <a:t>27</a:t>
            </a:r>
            <a:r>
              <a:rPr lang="ko-KR" altLang="en-US" sz="1200" b="1" dirty="0">
                <a:solidFill>
                  <a:srgbClr val="EB6834"/>
                </a:solidFill>
                <a:latin typeface="+mn-ea"/>
              </a:rPr>
              <a:t>배    관계를 일부러 지운 가짜 데이터를 스무 번 만들어 똑같이 나눠 봤습니다</a:t>
            </a:r>
            <a:r>
              <a:rPr lang="en-US" altLang="ko-KR" sz="1200" b="1" dirty="0">
                <a:solidFill>
                  <a:srgbClr val="EB6834"/>
                </a:solidFill>
                <a:latin typeface="+mn-ea"/>
              </a:rPr>
              <a:t>. </a:t>
            </a:r>
            <a:r>
              <a:rPr lang="ko-KR" altLang="en-US" sz="1200" b="1" dirty="0">
                <a:solidFill>
                  <a:srgbClr val="EB6834"/>
                </a:solidFill>
                <a:latin typeface="+mn-ea"/>
              </a:rPr>
              <a:t>실제 데이터 쪽이 확실히 더 뚜렷하게 나뉘었습니다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773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재대입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채점표를 보고 답을 정한 뒤 그 채점표로 채점한 것.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실제보다 좋게 나온다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796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F1 = 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다섯 구간의 점수를 같은 무게로 평균한 값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(드문 구간이 크게 반영된다) ·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부트스트랩 = 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표본을 다시 뽑아 보며 흔들림을 재는 것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·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035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F1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0.3416“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드문 구간까지 똑같은 무게로 채점한 점수입니다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060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서비스를 </a:t>
            </a:r>
            <a:r>
              <a:rPr lang="en-US" altLang="ko-KR" dirty="0"/>
              <a:t>2</a:t>
            </a:r>
            <a:r>
              <a:rPr lang="ko-KR" altLang="en-US" dirty="0"/>
              <a:t>종 다 제공하는 기관들이 있어서 전국의 서비스 기관 수는 총 </a:t>
            </a:r>
            <a:r>
              <a:rPr lang="en-US" altLang="ko-KR" dirty="0"/>
              <a:t>835</a:t>
            </a:r>
            <a:r>
              <a:rPr lang="ko-KR" altLang="en-US" dirty="0"/>
              <a:t>곳 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619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 ≥ 2.776 = 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다섯 조각으로 "우연이 </a:t>
            </a:r>
            <a:r>
              <a:rPr lang="ko-KR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아니다"라고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말하려면 넘겨야 하는 선</a:t>
            </a:r>
            <a:endParaRPr lang="ko-KR" altLang="en-US" dirty="0"/>
          </a:p>
          <a:p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838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E259B-CE89-48A3-B3D1-300B69500A5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886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63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6000" y="468000"/>
            <a:ext cx="11280000" cy="576000"/>
          </a:xfrm>
        </p:spPr>
        <p:txBody>
          <a:bodyPr>
            <a:normAutofit/>
          </a:bodyPr>
          <a:lstStyle>
            <a:lvl1pPr>
              <a:defRPr sz="3200">
                <a:latin typeface="+mj-ea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80000" y="1238251"/>
            <a:ext cx="11280000" cy="4952999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7D88BEB6-33B4-E7C3-262D-42DFC6A8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62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49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97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152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68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15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07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817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4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35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62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80000" y="468000"/>
            <a:ext cx="11280000" cy="57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80000" y="1219756"/>
            <a:ext cx="11280000" cy="4957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80000" y="63436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ED02C-446B-4E75-9E39-BCBF202E24F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B729F93-D719-34CF-AE06-0DACFA419CDE}"/>
              </a:ext>
            </a:extLst>
          </p:cNvPr>
          <p:cNvSpPr/>
          <p:nvPr userDrawn="1"/>
        </p:nvSpPr>
        <p:spPr>
          <a:xfrm>
            <a:off x="408000" y="1113550"/>
            <a:ext cx="11376000" cy="15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25185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BE3C0-CC0F-9B79-80A0-930AED71C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2423160"/>
            <a:ext cx="6669221" cy="1005841"/>
          </a:xfrm>
          <a:solidFill>
            <a:srgbClr val="F8CBAD"/>
          </a:solidFill>
        </p:spPr>
        <p:txBody>
          <a:bodyPr anchor="ctr">
            <a:normAutofit/>
          </a:bodyPr>
          <a:lstStyle/>
          <a:p>
            <a:pPr algn="l"/>
            <a:r>
              <a:rPr lang="ko-KR" altLang="en-US" sz="4000" dirty="0">
                <a:latin typeface="+mj-ea"/>
                <a:ea typeface="+mj-ea"/>
                <a:cs typeface="ADLaM Display" panose="020F0502020204030204" pitchFamily="2" charset="0"/>
              </a:rPr>
              <a:t>돌봄의 무게를 읽다</a:t>
            </a:r>
            <a:endParaRPr lang="ko-KR" altLang="en-US" sz="4400" dirty="0"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3E2C03-EDC8-A31B-DA13-0C5385CF0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3602038"/>
            <a:ext cx="9845040" cy="1655762"/>
          </a:xfrm>
        </p:spPr>
        <p:txBody>
          <a:bodyPr>
            <a:normAutofit fontScale="77500" lnSpcReduction="20000"/>
          </a:bodyPr>
          <a:lstStyle/>
          <a:p>
            <a:pPr algn="l">
              <a:spcAft>
                <a:spcPts val="600"/>
              </a:spcAft>
            </a:pP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발달장애인 보호자 </a:t>
            </a:r>
            <a:r>
              <a:rPr lang="ko-KR" altLang="en-US" sz="2000" dirty="0" err="1">
                <a:solidFill>
                  <a:srgbClr val="4A443E"/>
                </a:solidFill>
                <a:latin typeface="+mn-ea"/>
              </a:rPr>
              <a:t>돌봄부담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 경량 진단 </a:t>
            </a:r>
            <a:r>
              <a:rPr lang="en-US" altLang="ko-KR" sz="2000" dirty="0">
                <a:solidFill>
                  <a:srgbClr val="4A443E"/>
                </a:solidFill>
                <a:latin typeface="+mn-ea"/>
              </a:rPr>
              <a:t>+ 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지도 기반 복지서비스 연계</a:t>
            </a:r>
          </a:p>
          <a:p>
            <a:pPr algn="l">
              <a:spcAft>
                <a:spcPts val="600"/>
              </a:spcAft>
            </a:pPr>
            <a:r>
              <a:rPr lang="en-US" altLang="ko-KR" sz="2000" dirty="0">
                <a:solidFill>
                  <a:srgbClr val="4A443E"/>
                </a:solidFill>
                <a:latin typeface="+mn-ea"/>
              </a:rPr>
              <a:t>2024 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발달장애인 일과 삶 실태조사 </a:t>
            </a:r>
            <a:r>
              <a:rPr lang="en-US" altLang="ko-KR" sz="2000" dirty="0">
                <a:solidFill>
                  <a:srgbClr val="4A443E"/>
                </a:solidFill>
                <a:latin typeface="+mn-ea"/>
              </a:rPr>
              <a:t>3,000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가구 </a:t>
            </a:r>
            <a:r>
              <a:rPr lang="en-US" altLang="ko-KR" sz="2000" dirty="0">
                <a:solidFill>
                  <a:srgbClr val="4A443E"/>
                </a:solidFill>
                <a:latin typeface="+mn-ea"/>
              </a:rPr>
              <a:t>· 7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문항 </a:t>
            </a:r>
            <a:r>
              <a:rPr lang="en-US" altLang="ko-KR" sz="2000" dirty="0">
                <a:solidFill>
                  <a:srgbClr val="4A443E"/>
                </a:solidFill>
                <a:latin typeface="+mn-ea"/>
              </a:rPr>
              <a:t>· </a:t>
            </a:r>
            <a:r>
              <a:rPr lang="ko-KR" altLang="en-US" sz="2000" dirty="0">
                <a:solidFill>
                  <a:srgbClr val="4A443E"/>
                </a:solidFill>
                <a:latin typeface="+mn-ea"/>
              </a:rPr>
              <a:t>다항 로지스틱 회귀</a:t>
            </a:r>
          </a:p>
          <a:p>
            <a:pPr algn="l"/>
            <a:endParaRPr lang="en-US" altLang="ko-KR" dirty="0">
              <a:latin typeface="+mn-ea"/>
            </a:endParaRPr>
          </a:p>
          <a:p>
            <a:pPr algn="l"/>
            <a:endParaRPr lang="en-US" altLang="ko-KR" dirty="0">
              <a:latin typeface="+mn-ea"/>
            </a:endParaRPr>
          </a:p>
          <a:p>
            <a:pPr algn="l"/>
            <a:endParaRPr lang="en-US" altLang="ko-KR" sz="1400" dirty="0">
              <a:solidFill>
                <a:srgbClr val="8A8176"/>
              </a:solidFill>
              <a:latin typeface="+mn-ea"/>
            </a:endParaRPr>
          </a:p>
          <a:p>
            <a:pPr algn="l"/>
            <a:r>
              <a:rPr lang="en-US" altLang="ko-KR" sz="1400" b="1" dirty="0">
                <a:solidFill>
                  <a:srgbClr val="8A8176"/>
                </a:solidFill>
                <a:latin typeface="+mn-ea"/>
              </a:rPr>
              <a:t>Pioneer 3 </a:t>
            </a:r>
            <a:r>
              <a:rPr lang="ko-KR" altLang="en-US" sz="1400" b="1" dirty="0">
                <a:solidFill>
                  <a:srgbClr val="8A8176"/>
                </a:solidFill>
                <a:latin typeface="+mn-ea"/>
              </a:rPr>
              <a:t>팀   </a:t>
            </a:r>
            <a:r>
              <a:rPr lang="en-US" altLang="ko-KR" sz="1400" b="1" dirty="0">
                <a:solidFill>
                  <a:srgbClr val="8A8176"/>
                </a:solidFill>
                <a:latin typeface="+mn-ea"/>
              </a:rPr>
              <a:t>·   2026-09-04   ·   https://p3.sumzip.com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3716A0-FC47-3A4D-1FAC-690209299C4A}"/>
              </a:ext>
            </a:extLst>
          </p:cNvPr>
          <p:cNvSpPr txBox="1"/>
          <p:nvPr/>
        </p:nvSpPr>
        <p:spPr>
          <a:xfrm>
            <a:off x="822960" y="196596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미니프로젝트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3팀 · 곁</a:t>
            </a:r>
          </a:p>
        </p:txBody>
      </p:sp>
    </p:spTree>
    <p:extLst>
      <p:ext uri="{BB962C8B-B14F-4D97-AF65-F5344CB8AC3E}">
        <p14:creationId xmlns:p14="http://schemas.microsoft.com/office/powerpoint/2010/main" val="2775321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FD9A9-B6E7-6C2E-C515-4E3721EF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468000"/>
            <a:ext cx="11280000" cy="5760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ko-KR" altLang="en-US" dirty="0">
                <a:solidFill>
                  <a:srgbClr val="2B2724"/>
                </a:solidFill>
                <a:latin typeface="AppleGothic"/>
              </a:rPr>
              <a:t>네 사람이 나눠 맡았습니다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FF5F2-96A9-0BBD-FCF4-76131925C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028438"/>
            <a:ext cx="11280000" cy="124562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역할을 엄밀히 나누기보다 각자 주로 맡을 영역을 정했고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실제 작업은 서로 겹쳐서 진행했습니다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같은 폴더를 네 사람이 함께 쓰기 때문에 작업 기록은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docs/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작업기록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/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아래 각자 이름으로 남깁니다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B8A54E93-DF14-8E9F-726F-A2DE4571E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445975"/>
              </p:ext>
            </p:extLst>
          </p:nvPr>
        </p:nvGraphicFramePr>
        <p:xfrm>
          <a:off x="566928" y="155448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2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팀원</a:t>
                      </a:r>
                      <a:endParaRPr sz="16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주로</a:t>
                      </a:r>
                      <a:r>
                        <a:rPr sz="16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맡은</a:t>
                      </a:r>
                      <a:r>
                        <a:rPr sz="16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영역</a:t>
                      </a:r>
                      <a:endParaRPr sz="16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이 </a:t>
                      </a:r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발표에</a:t>
                      </a:r>
                      <a:r>
                        <a:rPr sz="16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들어간</a:t>
                      </a:r>
                      <a:r>
                        <a:rPr sz="16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결과물</a:t>
                      </a:r>
                      <a:endParaRPr sz="16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조성기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팀장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명세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정제와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설계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문서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골격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진단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배포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지도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연동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서비스 배포 · 발표 구성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오현근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검증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문항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선별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실험과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최종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문항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집합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확정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학습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라이브러리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정비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개선 실험 6건 · 실제 응답 602건 시험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신지현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서비스 디자인과 화면 설계 · 데이터 준비 및 모델 선정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데이터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준비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11구성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원본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507컬럼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군집화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최호준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실행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환경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설정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실험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설계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피드백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문서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정리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앙상블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9구성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재측정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인코딩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6종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D9A94BA-1A61-6C2D-E932-304FB4E467A8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dirty="0">
                <a:solidFill>
                  <a:srgbClr val="EB6834"/>
                </a:solidFill>
                <a:latin typeface="+mn-ea"/>
              </a:rPr>
              <a:t>팀 </a:t>
            </a:r>
            <a:r>
              <a:rPr sz="1100" b="1" dirty="0" err="1">
                <a:solidFill>
                  <a:srgbClr val="EB6834"/>
                </a:solidFill>
                <a:latin typeface="+mn-ea"/>
              </a:rPr>
              <a:t>소개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CCFE928-2841-6561-4497-7ADD534CF617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685440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JSG-전체-파이프라인-아키텍처.png">
            <a:extLst>
              <a:ext uri="{FF2B5EF4-FFF2-40B4-BE49-F238E27FC236}">
                <a16:creationId xmlns:a16="http://schemas.microsoft.com/office/drawing/2014/main" id="{4C18ADBE-C40E-DB3C-1F7C-9E1BF2623F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93" b="4524"/>
          <a:stretch>
            <a:fillRect/>
          </a:stretch>
        </p:blipFill>
        <p:spPr>
          <a:xfrm>
            <a:off x="513508" y="1376811"/>
            <a:ext cx="11164982" cy="54780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BC6BBE6-DEEB-ACF3-7811-66388CF8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000" y="468000"/>
            <a:ext cx="11280000" cy="576000"/>
          </a:xfrm>
        </p:spPr>
        <p:txBody>
          <a:bodyPr>
            <a:noAutofit/>
          </a:bodyPr>
          <a:lstStyle/>
          <a:p>
            <a:pPr lvl="0"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solidFill>
                  <a:srgbClr val="2B2724"/>
                </a:solidFill>
              </a:rPr>
              <a:t>설문 </a:t>
            </a:r>
            <a:r>
              <a:rPr lang="ko-KR" altLang="en-US" dirty="0" err="1">
                <a:solidFill>
                  <a:srgbClr val="2B2724"/>
                </a:solidFill>
              </a:rPr>
              <a:t>원자료</a:t>
            </a:r>
            <a:r>
              <a:rPr lang="ko-KR" altLang="en-US" dirty="0">
                <a:solidFill>
                  <a:srgbClr val="2B2724"/>
                </a:solidFill>
              </a:rPr>
              <a:t> </a:t>
            </a:r>
            <a:r>
              <a:rPr lang="en-US" altLang="ko-KR" dirty="0">
                <a:solidFill>
                  <a:srgbClr val="2B2724"/>
                </a:solidFill>
              </a:rPr>
              <a:t>507</a:t>
            </a:r>
            <a:r>
              <a:rPr lang="ko-KR" altLang="en-US" dirty="0">
                <a:solidFill>
                  <a:srgbClr val="2B2724"/>
                </a:solidFill>
              </a:rPr>
              <a:t>컬럼에서 </a:t>
            </a:r>
            <a:r>
              <a:rPr lang="en-US" altLang="ko-KR" dirty="0">
                <a:solidFill>
                  <a:srgbClr val="2B2724"/>
                </a:solidFill>
              </a:rPr>
              <a:t>7</a:t>
            </a:r>
            <a:r>
              <a:rPr lang="ko-KR" altLang="en-US" dirty="0">
                <a:solidFill>
                  <a:srgbClr val="2B2724"/>
                </a:solidFill>
              </a:rPr>
              <a:t>문항 웹 서비스까지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B8181C-9191-1D90-0F1F-DD7D87096BAF}"/>
              </a:ext>
            </a:extLst>
          </p:cNvPr>
          <p:cNvSpPr txBox="1"/>
          <p:nvPr/>
        </p:nvSpPr>
        <p:spPr>
          <a:xfrm>
            <a:off x="3900426" y="1099812"/>
            <a:ext cx="43911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>
                <a:latin typeface="+mj-lt"/>
              </a:rPr>
              <a:t>곁 </a:t>
            </a:r>
            <a:r>
              <a:rPr lang="en-US" altLang="ko-KR" sz="1200" b="1" dirty="0">
                <a:latin typeface="+mj-lt"/>
              </a:rPr>
              <a:t>– </a:t>
            </a:r>
            <a:r>
              <a:rPr lang="ko-KR" altLang="en-US" sz="1200" b="1" dirty="0">
                <a:latin typeface="+mj-lt"/>
              </a:rPr>
              <a:t>돌봄의 무게를 읽다 </a:t>
            </a:r>
            <a:r>
              <a:rPr lang="en-US" altLang="ko-KR" sz="1200" b="1" dirty="0">
                <a:latin typeface="+mj-lt"/>
              </a:rPr>
              <a:t>(</a:t>
            </a:r>
            <a:r>
              <a:rPr lang="ko-KR" altLang="en-US" sz="1200" b="1" dirty="0">
                <a:latin typeface="+mj-lt"/>
              </a:rPr>
              <a:t>전체 파이프라인 아키텍처</a:t>
            </a:r>
            <a:r>
              <a:rPr lang="en-US" altLang="ko-KR" sz="1200" b="1" dirty="0">
                <a:latin typeface="+mj-lt"/>
              </a:rPr>
              <a:t>)</a:t>
            </a:r>
            <a:endParaRPr lang="ko-KR" altLang="en-US" sz="1200" b="1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F235B-DB7E-45A2-1589-6B09BBA07DB6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AppleGothic"/>
              </a:rPr>
              <a:t>전체 아키텍처</a:t>
            </a:r>
            <a:endParaRPr sz="1100" b="1" dirty="0">
              <a:solidFill>
                <a:srgbClr val="EB6834"/>
              </a:solidFill>
              <a:latin typeface="AppleGothic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17A346BF-0C7A-74A6-CB97-DBCA769F831E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2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897772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09842-CE30-FEAA-70B8-E79786846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dirty="0">
                <a:solidFill>
                  <a:srgbClr val="2B2724"/>
                </a:solidFill>
                <a:latin typeface="AppleGothic"/>
              </a:rPr>
              <a:t>돌봄의 무게는 본인도 재기 어렵습니다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FF6D2-5A25-B735-7306-08365F43AD20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문제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5A50D60-608F-D94E-974A-81A175EF8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238251"/>
            <a:ext cx="5412800" cy="2190749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보호자는 자기 상태를 객관적으로 보기 어렵다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나만 이렇게 힘들까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라고 여기며 버티다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한계에 다다르는 경우가 많습니다</a:t>
            </a:r>
            <a:endParaRPr lang="ko-KR" altLang="en-US" sz="1400" dirty="0">
              <a:latin typeface="+mn-ea"/>
            </a:endParaRP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CDE02290-A1A0-D41A-B24F-705D417DF0A0}"/>
              </a:ext>
            </a:extLst>
          </p:cNvPr>
          <p:cNvSpPr txBox="1">
            <a:spLocks/>
          </p:cNvSpPr>
          <p:nvPr/>
        </p:nvSpPr>
        <p:spPr>
          <a:xfrm>
            <a:off x="6323200" y="1238251"/>
            <a:ext cx="5412800" cy="2190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지원 제도는 본인이 찾아와 신청해야 작동한다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부담이 클수록 알아볼 여력이 없다는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역설이 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9D707-B486-5C65-D1AC-52A6714B40C7}"/>
              </a:ext>
            </a:extLst>
          </p:cNvPr>
          <p:cNvSpPr txBox="1"/>
          <p:nvPr/>
        </p:nvSpPr>
        <p:spPr>
          <a:xfrm>
            <a:off x="566928" y="3840480"/>
            <a:ext cx="11064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dirty="0" err="1">
                <a:solidFill>
                  <a:srgbClr val="EB6834"/>
                </a:solidFill>
              </a:rPr>
              <a:t>그래서</a:t>
            </a:r>
            <a:r>
              <a:rPr sz="1800" b="1" dirty="0">
                <a:solidFill>
                  <a:srgbClr val="EB6834"/>
                </a:solidFill>
              </a:rPr>
              <a:t> 세 </a:t>
            </a:r>
            <a:r>
              <a:rPr sz="1800" b="1" dirty="0" err="1">
                <a:solidFill>
                  <a:srgbClr val="EB6834"/>
                </a:solidFill>
              </a:rPr>
              <a:t>가지</a:t>
            </a:r>
            <a:r>
              <a:rPr lang="ko-KR" altLang="en-US" b="1" dirty="0">
                <a:solidFill>
                  <a:srgbClr val="EB6834"/>
                </a:solidFill>
              </a:rPr>
              <a:t>를</a:t>
            </a:r>
            <a:r>
              <a:rPr sz="1800" b="1" dirty="0">
                <a:solidFill>
                  <a:srgbClr val="EB6834"/>
                </a:solidFill>
              </a:rPr>
              <a:t> </a:t>
            </a:r>
            <a:r>
              <a:rPr sz="1800" b="1" dirty="0" err="1">
                <a:solidFill>
                  <a:srgbClr val="EB6834"/>
                </a:solidFill>
              </a:rPr>
              <a:t>합쳤습니다</a:t>
            </a:r>
            <a:endParaRPr sz="1800" b="1" dirty="0">
              <a:solidFill>
                <a:srgbClr val="EB6834"/>
              </a:solidFill>
            </a:endParaRPr>
          </a:p>
        </p:txBody>
      </p:sp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23DEC20F-E5C1-6F2E-5DD0-92EE3F119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707442"/>
              </p:ext>
            </p:extLst>
          </p:nvPr>
        </p:nvGraphicFramePr>
        <p:xfrm>
          <a:off x="566928" y="438912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짧은 설문으로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판단</a:t>
                      </a:r>
                      <a:r>
                        <a:rPr sz="14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근거를</a:t>
                      </a:r>
                      <a:r>
                        <a:rPr sz="14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함께</a:t>
                      </a:r>
                      <a:endParaRPr sz="14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즉시 연결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지금의 돌봄부담이 어느 수준인지 가늠할 근거를 준다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"왜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그렇게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봤는지"를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응답으로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되짚어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준다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부담이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크면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조작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없이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가까운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접수처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3곳을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보여준다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2E4C06-9747-F2AA-80D2-EB58C00CA2E2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3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205067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3230E-5AD7-7D5F-216D-B61307C5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네 가지 중 우리가 한 것과 하지 않은 것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06D144-2893-32F4-6D3D-84089947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866640"/>
            <a:ext cx="11280000" cy="132461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solidFill>
                  <a:srgbClr val="7D4A5F"/>
                </a:solidFill>
                <a:latin typeface="+mn-ea"/>
              </a:rPr>
              <a:t>관계가 있다고 해서 인과관계가 있는 것은 아닙니다</a:t>
            </a:r>
            <a:r>
              <a:rPr lang="en-US" altLang="ko-KR" sz="1600" b="1" dirty="0">
                <a:solidFill>
                  <a:srgbClr val="7D4A5F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600" b="1" dirty="0">
                <a:solidFill>
                  <a:srgbClr val="7D4A5F"/>
                </a:solidFill>
                <a:latin typeface="+mn-ea"/>
              </a:rPr>
              <a:t>예측을 잘한다고 해서 원인을 설명하는 것도 아닙니다</a:t>
            </a:r>
            <a:r>
              <a:rPr lang="en-US" altLang="ko-KR" sz="1600" b="1" dirty="0">
                <a:solidFill>
                  <a:srgbClr val="7D4A5F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우리는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왜 부담이 생기는가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에 답하지 않았습니다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답한 것은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지금 어떤 상태인가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이 응답이면 부담이 클 가능성이 얼마인가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7332AA-E853-13EF-E0D5-8CDF83BB33E8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분석 목적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6FE4FB41-A191-173C-7235-786E8393C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069788"/>
              </p:ext>
            </p:extLst>
          </p:nvPr>
        </p:nvGraphicFramePr>
        <p:xfrm>
          <a:off x="566928" y="1463040"/>
          <a:ext cx="11064238" cy="3017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7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분석 목적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핵심 질문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했나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근거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현황 요약</a:t>
                      </a:r>
                      <a:endParaRPr lang="en-US" altLang="ko-KR"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Summary 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무슨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현상이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나타나는가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했다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3,000가구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분포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54.3%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관계 기술</a:t>
                      </a:r>
                      <a:endParaRPr lang="en-US" altLang="ko-KR"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Relation Description</a:t>
                      </a:r>
                      <a:r>
                        <a:rPr lang="en-US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어떤 요인이 관련되는가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했다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도움 필요 시간 r=+0.442 · 근로 의미 이해도 r=-0.429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인과 설명</a:t>
                      </a:r>
                      <a:endParaRPr lang="en-US" altLang="ko-KR"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Causal Explanation</a:t>
                      </a:r>
                      <a:r>
                        <a:rPr lang="en-US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 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부담이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발생하는가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하지 않았다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1회 횡단면 조사로는 인과를 말할 수 없다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3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예측 </a:t>
                      </a:r>
                      <a:endParaRPr lang="en-US" altLang="ko-KR"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Prediction</a:t>
                      </a:r>
                      <a:r>
                        <a:rPr lang="en-US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새 응답자는 어떤 결과일까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했다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7문항 → 5구간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재현율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0.773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3628A407-9CE9-3D4E-DC91-6014CA7B8C42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4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81108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C9E03-9D7C-94EA-6A70-79B5072A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표 한 장의 모양이 여덟 번 바뀝니다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5EE4EA-D548-7CE7-8F82-30F4A2B10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615250"/>
            <a:ext cx="11280000" cy="576000"/>
          </a:xfrm>
        </p:spPr>
        <p:txBody>
          <a:bodyPr>
            <a:normAutofit/>
          </a:bodyPr>
          <a:lstStyle/>
          <a:p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기법은 이 사슬의 한 칸일 뿐이고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, 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나머지 일곱은 모두 데이터를 만지는 일입니다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4DB73-FDC1-FDC7-14B3-74C8FD8B5630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데이터 준비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86A4D4A9-519E-130A-1470-13D1B58DD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370328"/>
              </p:ext>
            </p:extLst>
          </p:nvPr>
        </p:nvGraphicFramePr>
        <p:xfrm>
          <a:off x="566928" y="1417320"/>
          <a:ext cx="11064240" cy="3931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2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단계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무엇을 만졌나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모양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변화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현상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→ 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개체 = 가구 한 곳, 속성 = 설문 문항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3,000행 × 507컬럼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② 변수 선별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분석 가능한 항목만 골라낸다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→ 3,000행 × 45컬럼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③ 정제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무응답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코드를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NULL 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통일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행은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건도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안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버린다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→ 43컬럼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④ X / y 분리 · 누수 배제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target(I13)을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떼고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정답이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새는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6변수를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뺀다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→ X(38) + y(1)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⑤ 분할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target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비율을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보존해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나누고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DB</a:t>
                      </a: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에 저장한다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→ train 2,398 + test 602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⑥ 변환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빈칸을 '</a:t>
                      </a:r>
                      <a:r>
                        <a:rPr lang="ko-KR" altLang="ko-K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없음'이라는</a:t>
                      </a:r>
                      <a:r>
                        <a:rPr lang="ko-KR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하나의 답으로 두고, 선택지마다 칸을 나눴습니다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7문항 → 53열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⑦ 축소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후진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제거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38변수 → 7문항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7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⑧ 기법 · 평가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다항 로지스틱 fit → 두 벡터 비교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macro F1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재현율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E3D57CE-929B-4E1A-9D74-08E846A70705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5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666118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D799B-661F-F8C0-A0B4-F0E4EC1F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dirty="0">
                <a:solidFill>
                  <a:srgbClr val="2B2724"/>
                </a:solidFill>
                <a:latin typeface="AppleGothic"/>
              </a:rPr>
              <a:t>고부담은 예외가 아니라 기본값에 가깝습니다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A9B304-ADD2-2115-80BE-6354DD5AC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4965290"/>
            <a:ext cx="11280000" cy="163891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sz="1800" b="1" dirty="0" err="1">
                <a:solidFill>
                  <a:srgbClr val="2B2724"/>
                </a:solidFill>
                <a:latin typeface="+mn-ea"/>
              </a:rPr>
              <a:t>고부담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(1~2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등급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)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이 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1,629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가구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, 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절반을 넘습니다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. 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반대로 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"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부담 없음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"</a:t>
            </a:r>
            <a:r>
              <a:rPr lang="ko-KR" altLang="en-US" sz="1800" b="1" dirty="0">
                <a:solidFill>
                  <a:srgbClr val="2B2724"/>
                </a:solidFill>
                <a:latin typeface="+mn-ea"/>
              </a:rPr>
              <a:t>은 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77</a:t>
            </a:r>
            <a:r>
              <a:rPr lang="ko-KR" altLang="en-US" sz="1800" b="1" dirty="0" err="1">
                <a:solidFill>
                  <a:srgbClr val="2B2724"/>
                </a:solidFill>
                <a:latin typeface="+mn-ea"/>
              </a:rPr>
              <a:t>건뿐입니다</a:t>
            </a:r>
            <a:r>
              <a:rPr lang="en-US" altLang="ko-KR" sz="18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척도 주의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숫자가 작을수록 부담이 큽니다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서비스 화면에는 숫자를 쓰지 않고 표시 명칭으로만 보여줍니다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등급이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77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건뿐이라 무작위로 나누면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test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에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건이 갈 수도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25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건이 갈 수도 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층화 분할이 필요했던 이유입니다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  <a:endParaRPr lang="ko-KR" altLang="en-US" sz="12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0E04A-F1C4-9F9B-9A45-19E270B2D33C}"/>
              </a:ext>
            </a:extLst>
          </p:cNvPr>
          <p:cNvSpPr txBox="1"/>
          <p:nvPr/>
        </p:nvSpPr>
        <p:spPr>
          <a:xfrm>
            <a:off x="838200" y="1181524"/>
            <a:ext cx="10515600" cy="3496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 dirty="0" err="1">
                <a:solidFill>
                  <a:srgbClr val="8A8176"/>
                </a:solidFill>
              </a:rPr>
              <a:t>전국</a:t>
            </a:r>
            <a:r>
              <a:rPr sz="1400" b="1" dirty="0">
                <a:solidFill>
                  <a:srgbClr val="8A8176"/>
                </a:solidFill>
              </a:rPr>
              <a:t> </a:t>
            </a:r>
            <a:r>
              <a:rPr sz="1400" b="1" dirty="0" err="1">
                <a:solidFill>
                  <a:srgbClr val="8A8176"/>
                </a:solidFill>
              </a:rPr>
              <a:t>대표</a:t>
            </a:r>
            <a:r>
              <a:rPr sz="1400" b="1" dirty="0">
                <a:solidFill>
                  <a:srgbClr val="8A8176"/>
                </a:solidFill>
              </a:rPr>
              <a:t> </a:t>
            </a:r>
            <a:r>
              <a:rPr sz="1400" b="1" dirty="0" err="1">
                <a:solidFill>
                  <a:srgbClr val="8A8176"/>
                </a:solidFill>
              </a:rPr>
              <a:t>표본</a:t>
            </a:r>
            <a:r>
              <a:rPr sz="1400" b="1" dirty="0">
                <a:solidFill>
                  <a:srgbClr val="8A8176"/>
                </a:solidFill>
              </a:rPr>
              <a:t> 3,000가구 · </a:t>
            </a:r>
            <a:r>
              <a:rPr sz="1400" b="1" dirty="0" err="1">
                <a:solidFill>
                  <a:srgbClr val="8A8176"/>
                </a:solidFill>
              </a:rPr>
              <a:t>정제</a:t>
            </a:r>
            <a:r>
              <a:rPr sz="1400" b="1" dirty="0">
                <a:solidFill>
                  <a:srgbClr val="8A8176"/>
                </a:solidFill>
              </a:rPr>
              <a:t> 후 </a:t>
            </a:r>
            <a:r>
              <a:rPr sz="1400" b="1" dirty="0" err="1">
                <a:solidFill>
                  <a:srgbClr val="8A8176"/>
                </a:solidFill>
              </a:rPr>
              <a:t>설명변수</a:t>
            </a:r>
            <a:r>
              <a:rPr sz="1400" b="1" dirty="0">
                <a:solidFill>
                  <a:srgbClr val="8A8176"/>
                </a:solidFill>
              </a:rPr>
              <a:t> 38개 · train 2,398 / test 602</a:t>
            </a:r>
          </a:p>
        </p:txBody>
      </p:sp>
      <p:pic>
        <p:nvPicPr>
          <p:cNvPr id="7" name="Picture 5" descr="A-부담분포.png">
            <a:extLst>
              <a:ext uri="{FF2B5EF4-FFF2-40B4-BE49-F238E27FC236}">
                <a16:creationId xmlns:a16="http://schemas.microsoft.com/office/drawing/2014/main" id="{378719E9-B053-F840-4D01-307E1A7E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38724"/>
            <a:ext cx="10515600" cy="2867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C9314F-4150-8ADF-5363-36CD487C560A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Summary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6B248867-7AAD-8B8F-7326-BBB3DA611A9B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6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4082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85685-684C-602C-FF58-84087830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정답이 새는 변수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6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개를 일부러 버렸습니다</a:t>
            </a:r>
            <a:endParaRPr lang="ko-KR" altLang="en-US" dirty="0"/>
          </a:p>
        </p:txBody>
      </p:sp>
      <p:pic>
        <p:nvPicPr>
          <p:cNvPr id="6" name="Picture 4" descr="V03-설명력순위.png">
            <a:extLst>
              <a:ext uri="{FF2B5EF4-FFF2-40B4-BE49-F238E27FC236}">
                <a16:creationId xmlns:a16="http://schemas.microsoft.com/office/drawing/2014/main" id="{D21660C4-5461-9A50-1E93-417A88182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39" y="1432303"/>
            <a:ext cx="7086574" cy="4088408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6A74EC61-3ECD-960F-C853-CC47DD005F04}"/>
              </a:ext>
            </a:extLst>
          </p:cNvPr>
          <p:cNvGrpSpPr/>
          <p:nvPr/>
        </p:nvGrpSpPr>
        <p:grpSpPr>
          <a:xfrm>
            <a:off x="4220195" y="2127403"/>
            <a:ext cx="3008671" cy="679811"/>
            <a:chOff x="5154915" y="1995948"/>
            <a:chExt cx="3008671" cy="67981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643EFF-A1B1-5437-CEA8-3E5130691566}"/>
                </a:ext>
              </a:extLst>
            </p:cNvPr>
            <p:cNvSpPr txBox="1"/>
            <p:nvPr/>
          </p:nvSpPr>
          <p:spPr>
            <a:xfrm>
              <a:off x="5154915" y="2398760"/>
              <a:ext cx="30086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latin typeface="+mn-ea"/>
                </a:rPr>
                <a:t>배제</a:t>
              </a:r>
              <a:r>
                <a:rPr lang="en-US" altLang="ko-KR" sz="1200" dirty="0">
                  <a:latin typeface="+mn-ea"/>
                </a:rPr>
                <a:t> – target</a:t>
              </a:r>
              <a:r>
                <a:rPr lang="ko-KR" altLang="en-US" sz="1200" dirty="0">
                  <a:latin typeface="+mn-ea"/>
                </a:rPr>
                <a:t>과 같은 것을 보여줌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DB6E57A3-E3B6-1549-A34C-A43B2C48E9BE}"/>
                </a:ext>
              </a:extLst>
            </p:cNvPr>
            <p:cNvCxnSpPr/>
            <p:nvPr/>
          </p:nvCxnSpPr>
          <p:spPr>
            <a:xfrm flipV="1">
              <a:off x="7226710" y="1995948"/>
              <a:ext cx="0" cy="3637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2B393D1-E621-36A1-44C5-2432B4E0F456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Data Reduction 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0B44EB-61E5-0FEC-B841-6A94D1BAA05F}"/>
              </a:ext>
            </a:extLst>
          </p:cNvPr>
          <p:cNvSpPr txBox="1"/>
          <p:nvPr/>
        </p:nvSpPr>
        <p:spPr>
          <a:xfrm>
            <a:off x="7529760" y="1713145"/>
            <a:ext cx="4206240" cy="34317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dirty="0" err="1">
                <a:solidFill>
                  <a:srgbClr val="EB6834"/>
                </a:solidFill>
                <a:latin typeface="+mn-ea"/>
              </a:rPr>
              <a:t>버린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것 중 1위</a:t>
            </a:r>
          </a:p>
          <a:p>
            <a:pPr algn="l">
              <a:spcAft>
                <a:spcPts val="600"/>
              </a:spcAft>
            </a:pPr>
            <a:r>
              <a:rPr b="1" dirty="0" err="1">
                <a:solidFill>
                  <a:srgbClr val="2B2724"/>
                </a:solidFill>
                <a:latin typeface="+mn-ea"/>
              </a:rPr>
              <a:t>보호자</a:t>
            </a:r>
            <a:r>
              <a:rPr b="1" dirty="0">
                <a:solidFill>
                  <a:srgbClr val="2B2724"/>
                </a:solidFill>
                <a:latin typeface="+mn-ea"/>
              </a:rPr>
              <a:t> 삶 </a:t>
            </a:r>
            <a:r>
              <a:rPr b="1" dirty="0" err="1">
                <a:solidFill>
                  <a:srgbClr val="2B2724"/>
                </a:solidFill>
                <a:latin typeface="+mn-ea"/>
              </a:rPr>
              <a:t>만족도</a:t>
            </a:r>
            <a:r>
              <a:rPr b="1" dirty="0">
                <a:solidFill>
                  <a:srgbClr val="2B2724"/>
                </a:solidFill>
                <a:latin typeface="+mn-ea"/>
              </a:rPr>
              <a:t> 19.06%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남은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38개 중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최고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(8.23%)의 2.3배입니다.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1" dirty="0" err="1">
                <a:solidFill>
                  <a:srgbClr val="2B2724"/>
                </a:solidFill>
                <a:latin typeface="+mn-ea"/>
              </a:rPr>
              <a:t>넣으면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2B2724"/>
                </a:solidFill>
                <a:latin typeface="+mn-ea"/>
              </a:rPr>
              <a:t>성적은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2B2724"/>
                </a:solidFill>
                <a:latin typeface="+mn-ea"/>
              </a:rPr>
              <a:t>오릅니다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그런데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"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보호자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만족도로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보호자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부담을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예측"하는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것은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동어반복입니다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예측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대상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(I13)과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같은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블록이거나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같은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것을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재는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변수를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전부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뺐습니다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1" dirty="0" err="1">
                <a:solidFill>
                  <a:srgbClr val="EB6834"/>
                </a:solidFill>
                <a:latin typeface="+mn-ea"/>
              </a:rPr>
              <a:t>성능을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포기하고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도구로서의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의미를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택했습니다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6BAB95-27DB-75A8-6EF7-5F0D0F2AE66A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7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575616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97C56-F12D-5AB3-EA7A-6421546D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분할이 변환보다 먼저입니다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AFD60B-2ED8-E51A-9A87-EF1414C9C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3429000"/>
            <a:ext cx="11280000" cy="806450"/>
          </a:xfrm>
        </p:spPr>
        <p:txBody>
          <a:bodyPr>
            <a:normAutofit/>
          </a:bodyPr>
          <a:lstStyle/>
          <a:p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우리도 한 번 빠졌다가 스스로 찾아냈습니다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2A637-B066-EEB6-721C-76DC1A8A1042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Data Leakage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2A34308C-DC61-4FB7-8075-16E6ACB46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772556"/>
              </p:ext>
            </p:extLst>
          </p:nvPr>
        </p:nvGraphicFramePr>
        <p:xfrm>
          <a:off x="566928" y="14173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층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무엇을 막나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우리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① 설계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target 과 같은 것을 재는 변수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누수 6변수를 입력에서 완전히 제외 (FR-004b)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② fold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검증 부분의 정보가 학습에 스며드는 것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원-핫 · 결측 대체 · 표준화 · 클래스 가중치를 fold 학습 부분에서만 계산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③ test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최종 평가의 오염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test 602건은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결정이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끝난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뒤 단 한 번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58213A5D-0B7F-3E56-7F0C-95C9F62F7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521825"/>
              </p:ext>
            </p:extLst>
          </p:nvPr>
        </p:nvGraphicFramePr>
        <p:xfrm>
          <a:off x="566928" y="4114800"/>
          <a:ext cx="110642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sz="1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어떻게 쟀나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macro F1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잘못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3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검증용으로 남겨 둔 답을 보고 설정을 고른 다음, 같은 답으로 채점했습니다</a:t>
                      </a:r>
                      <a:endParaRPr sz="1400" b="0" i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0.3383 (낙관)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옳음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fold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학습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부분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안쪽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3겹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교차검증에서만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고름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0.3348 (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진짜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4332494-5F26-7D3D-9049-F65D3AC93A13}"/>
              </a:ext>
            </a:extLst>
          </p:cNvPr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dirty="0" err="1">
                <a:solidFill>
                  <a:srgbClr val="8A8176"/>
                </a:solidFill>
                <a:latin typeface="AppleGothic"/>
              </a:rPr>
              <a:t>낙관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편향의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크기가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모델마다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달라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모델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간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비교에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쓸 수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없었습니다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· docs/CHJ-앙상블비교-결과.md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244F8CA9-E851-C93D-7349-DAF661BE46C1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8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91980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8D350-4251-4937-5A7A-33CB7064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무엇이 </a:t>
            </a:r>
            <a:r>
              <a:rPr lang="ko-KR" altLang="en-US" dirty="0" err="1">
                <a:solidFill>
                  <a:srgbClr val="2B2724"/>
                </a:solidFill>
                <a:latin typeface="AppleGothic"/>
              </a:rPr>
              <a:t>돌봄부담과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 관련되는가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E6AD7-FC29-65CF-5352-985DCBC89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3520" y="1417320"/>
            <a:ext cx="3892480" cy="422094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 err="1">
                <a:solidFill>
                  <a:srgbClr val="8A8176"/>
                </a:solidFill>
                <a:latin typeface="+mn-ea"/>
              </a:rPr>
              <a:t>스피어만</a:t>
            </a: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 상관 </a:t>
            </a:r>
            <a:r>
              <a:rPr lang="en-US" altLang="ko-KR" sz="1400" dirty="0">
                <a:solidFill>
                  <a:srgbClr val="8A8176"/>
                </a:solidFill>
                <a:latin typeface="+mn-ea"/>
              </a:rPr>
              <a:t>· train 2,398</a:t>
            </a:r>
            <a:r>
              <a:rPr lang="ko-KR" altLang="en-US" sz="1400" dirty="0">
                <a:solidFill>
                  <a:srgbClr val="8A8176"/>
                </a:solidFill>
                <a:latin typeface="+mn-ea"/>
              </a:rPr>
              <a:t>건</a:t>
            </a:r>
          </a:p>
          <a:p>
            <a:pPr marL="0" indent="0">
              <a:spcAft>
                <a:spcPts val="600"/>
              </a:spcAft>
              <a:buNone/>
            </a:pPr>
            <a:endParaRPr lang="ko-KR" altLang="en-US" sz="1400" dirty="0">
              <a:solidFill>
                <a:srgbClr val="8A8176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|r| ≥ 0.20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인 변수가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38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 중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8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|r| ≥ 0.10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18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방향을 </a:t>
            </a:r>
            <a:r>
              <a:rPr lang="ko-KR" altLang="en-US" sz="1600" b="1" dirty="0" err="1">
                <a:solidFill>
                  <a:srgbClr val="2B2724"/>
                </a:solidFill>
                <a:latin typeface="+mn-ea"/>
              </a:rPr>
              <a:t>코드북과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 대조했습니다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배포 문항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개의 선택지 문구를 직접 확인해 네 개 모두 상식과 같은 방향임을 확인했습니다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라벨이 무작위로 붙었다면 나올 수 없는 결과입니다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E7C18-8138-2B62-4DF0-5A9E10BB402D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Relation</a:t>
            </a: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rgbClr val="EB6834"/>
                </a:solidFill>
                <a:latin typeface="+mn-ea"/>
              </a:rPr>
              <a:t>Description</a:t>
            </a: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22D82A18-07C9-0948-DCD3-4A774BC0E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044689"/>
              </p:ext>
            </p:extLst>
          </p:nvPr>
        </p:nvGraphicFramePr>
        <p:xfrm>
          <a:off x="566928" y="1417320"/>
          <a:ext cx="6949440" cy="329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변수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r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읽으면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도움 필요 시간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+0.442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도움이 많이 필요할수록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근로 의미 이해도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-0.429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이해하지 못할수록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통상근로 가능 여부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-0.396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통상근로가 어려울수록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전반적 건강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+0.270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건강이 나쁠수록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가족 취업지지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+0.247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가족 지지가 낮을수록 부담이 크다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일과 만족도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+0.241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일과를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싫어할수록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부담이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크다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2089319-5BB5-205D-AB9C-95EF403E7EE6}"/>
              </a:ext>
            </a:extLst>
          </p:cNvPr>
          <p:cNvSpPr txBox="1"/>
          <p:nvPr/>
        </p:nvSpPr>
        <p:spPr>
          <a:xfrm>
            <a:off x="563880" y="5299709"/>
            <a:ext cx="11064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7D4A5F"/>
                </a:solidFill>
                <a:latin typeface="+mn-ea"/>
              </a:rPr>
              <a:t>다만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관계가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발견되었다고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해서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그것이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원인이라고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말할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수는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7D4A5F"/>
                </a:solidFill>
                <a:latin typeface="+mn-ea"/>
              </a:rPr>
              <a:t>없습니다</a:t>
            </a:r>
            <a:r>
              <a:rPr sz="1600" b="1" dirty="0">
                <a:solidFill>
                  <a:srgbClr val="7D4A5F"/>
                </a:solidFill>
                <a:latin typeface="+mn-ea"/>
              </a:rPr>
              <a:t>.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33E177C9-C67B-3E1F-7749-FF7BEEFCB63D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9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093935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21851-69EF-8150-FB33-162B6BB2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정답을 가리고 나눠 봤더니 </a:t>
            </a:r>
            <a:r>
              <a:rPr lang="en-US" altLang="ko-KR" dirty="0">
                <a:solidFill>
                  <a:srgbClr val="2B2724"/>
                </a:solidFill>
                <a:latin typeface="AppleGothic"/>
              </a:rPr>
              <a:t>— 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구조가 있었습니다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7D6A8-0651-EB7D-C060-55363C2D7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1611875"/>
            <a:ext cx="4902000" cy="4579375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원본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507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컬럼으로 다시 했습니다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설문 분기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(skip logic)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를 게이트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21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개로 승격해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190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변수로 정리하고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설문 응답이 서로 얼마나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비슷한지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재서 묶었습니다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판정은 널 베이스라인으로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열별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셔플로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구조가 확실히 없는 데이터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를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20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번 만들어 같은 파이프라인을 태웠습니다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관계를 일부러 지운 가짜 데이터를 스무 번 만들어 똑같이 나눠 봤습니다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. </a:t>
            </a: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실제 데이터 쪽이 확실히 더 뚜렷하게 나뉘었습니다</a:t>
            </a:r>
          </a:p>
          <a:p>
            <a:pPr marL="0" indent="0">
              <a:spcAft>
                <a:spcPts val="600"/>
              </a:spcAft>
              <a:buNone/>
            </a:pPr>
            <a:endParaRPr lang="ko-KR" altLang="en-US" sz="1400" b="1" dirty="0">
              <a:solidFill>
                <a:srgbClr val="EB6834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최적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k=3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이고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세 덩어리가 부담과 단조 정렬됩니다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65F03-B87B-8AF7-A3FF-A3B48927D646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Clustering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7" name="Picture 3" descr="V19-군집별-고부담비율.png">
            <a:extLst>
              <a:ext uri="{FF2B5EF4-FFF2-40B4-BE49-F238E27FC236}">
                <a16:creationId xmlns:a16="http://schemas.microsoft.com/office/drawing/2014/main" id="{195CA70C-1152-96BE-841B-1161AFD43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11875"/>
            <a:ext cx="6309360" cy="34513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6A2941-AA1D-DFD5-3A52-F5F5E165BF73}"/>
              </a:ext>
            </a:extLst>
          </p:cNvPr>
          <p:cNvSpPr txBox="1"/>
          <p:nvPr/>
        </p:nvSpPr>
        <p:spPr>
          <a:xfrm>
            <a:off x="566928" y="6327648"/>
            <a:ext cx="110642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dirty="0" err="1">
                <a:solidFill>
                  <a:srgbClr val="8A8176"/>
                </a:solidFill>
                <a:latin typeface="+mn-ea"/>
              </a:rPr>
              <a:t>앞선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실험은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같은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0.12 를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보고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"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구조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없음"이라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했습니다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. 0.25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기준은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저차원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연속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데이터용이고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,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차이는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방법이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아니라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비교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대상을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만든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것입니다</a:t>
            </a:r>
            <a:r>
              <a:rPr sz="1050" b="0" dirty="0">
                <a:solidFill>
                  <a:srgbClr val="8A8176"/>
                </a:solidFill>
                <a:latin typeface="+mn-ea"/>
              </a:rPr>
              <a:t> · docs/SJH-군집화-원본데이터.md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E221442D-F999-DB82-3E5C-A27F939EE239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10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21034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2BBA1-196C-B08A-195A-D43C3552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구조는 있지만</a:t>
            </a:r>
            <a:r>
              <a:rPr lang="en-US" altLang="ko-KR" dirty="0">
                <a:solidFill>
                  <a:srgbClr val="2B2724"/>
                </a:solidFill>
                <a:latin typeface="AppleGothic"/>
              </a:rPr>
              <a:t>, 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천장을 올려 주지는 않습니다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5B498B-FA92-5739-4093-986BE8F34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740400"/>
            <a:ext cx="11280000" cy="450850"/>
          </a:xfrm>
        </p:spPr>
        <p:txBody>
          <a:bodyPr>
            <a:normAutofit/>
          </a:bodyPr>
          <a:lstStyle/>
          <a:p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구조는 있습니다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. 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다만 </a:t>
            </a:r>
            <a:r>
              <a:rPr lang="ko-KR" altLang="en-US" sz="1600" b="1" dirty="0" err="1">
                <a:solidFill>
                  <a:srgbClr val="EB6834"/>
                </a:solidFill>
                <a:latin typeface="+mn-ea"/>
              </a:rPr>
              <a:t>돌봄부담을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5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구간으로 가를 만큼은 아닙니다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4D10F-739F-F03D-F082-88A54B21B183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Clustering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6A2F4FC8-FE59-9F3D-D3CB-5F3306494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501736"/>
              </p:ext>
            </p:extLst>
          </p:nvPr>
        </p:nvGraphicFramePr>
        <p:xfrm>
          <a:off x="566928" y="1463040"/>
          <a:ext cx="110642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5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6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판정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방법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입력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여부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정확도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재현율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5구간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정확도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군집만으로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다수결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배정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190변수 (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원본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507컬럼)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68.97 %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0.8127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44.37 %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배포본 7문항 로지스틱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7문항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69.4 %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0.7844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46.3 %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A5D5AC1-C02C-B8EA-0611-A8BC3679372F}"/>
              </a:ext>
            </a:extLst>
          </p:cNvPr>
          <p:cNvSpPr txBox="1"/>
          <p:nvPr/>
        </p:nvSpPr>
        <p:spPr>
          <a:xfrm>
            <a:off x="566928" y="3703320"/>
            <a:ext cx="5394960" cy="8463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n-ea"/>
              </a:rPr>
              <a:t>숫자를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읽을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때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주의할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점</a:t>
            </a:r>
          </a:p>
          <a:p>
            <a:pPr algn="l">
              <a:spcAft>
                <a:spcPts val="600"/>
              </a:spcAft>
            </a:pPr>
            <a:r>
              <a:rPr lang="ko-KR" altLang="en-US" sz="1400" b="0" dirty="0">
                <a:solidFill>
                  <a:srgbClr val="4A443E"/>
                </a:solidFill>
                <a:latin typeface="+mn-ea"/>
              </a:rPr>
              <a:t>군집 쪽은 채점이 후하게 되어 있습니다</a:t>
            </a:r>
            <a:r>
              <a:rPr lang="en-US" altLang="ko-KR" sz="1400" b="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b="0" dirty="0">
                <a:solidFill>
                  <a:srgbClr val="4A443E"/>
                </a:solidFill>
                <a:latin typeface="+mn-ea"/>
              </a:rPr>
              <a:t>그런데도 결과가 같았습니다</a:t>
            </a:r>
            <a:r>
              <a:rPr lang="en-US" altLang="ko-KR" sz="1400" b="0" dirty="0">
                <a:solidFill>
                  <a:srgbClr val="4A443E"/>
                </a:solidFill>
                <a:latin typeface="+mn-ea"/>
              </a:rPr>
              <a:t>.</a:t>
            </a:r>
            <a:endParaRPr sz="1400" b="0" dirty="0">
              <a:solidFill>
                <a:srgbClr val="4A443E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AA2239-05B3-0364-8A2A-D2611E6F9BDF}"/>
              </a:ext>
            </a:extLst>
          </p:cNvPr>
          <p:cNvSpPr txBox="1"/>
          <p:nvPr/>
        </p:nvSpPr>
        <p:spPr>
          <a:xfrm>
            <a:off x="6263640" y="3703320"/>
            <a:ext cx="5394960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B2724"/>
                </a:solidFill>
                <a:latin typeface="+mn-ea"/>
              </a:rPr>
              <a:t>그리고 대체재가 아닙니다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443E"/>
                </a:solidFill>
                <a:latin typeface="+mn-ea"/>
              </a:rPr>
              <a:t>새 응답자를 군집에 배정하려면 507컬럼 설문에서 뽑은 190변수가 필요합니다.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A443E"/>
                </a:solidFill>
                <a:latin typeface="+mn-ea"/>
              </a:rPr>
              <a:t>서비스는 7문항을 묻습니다.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AC61F322-A146-C475-4CEE-8EE3C4D121A9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11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844449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40C95-46F3-FDA6-43C7-242606A7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이길 수 있는 구성이 있는지 먼저 확인했습니다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8BE15B-12BF-CBB4-1165-090904CE86C4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Model Building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FDD5CFEA-F45F-1B73-5C49-06F7D49C9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985859"/>
              </p:ext>
            </p:extLst>
          </p:nvPr>
        </p:nvGraphicFramePr>
        <p:xfrm>
          <a:off x="566928" y="1417320"/>
          <a:ext cx="110642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규모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함의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단일 7종 + 앙상블 4종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11구성 × 2문항셋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로지스틱이 1등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문항 수와 무관하게 결론 유지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반복 CV + 부트스트랩 재측정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9구성 · 2,000회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이긴 구성 0개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차이가 잡음과 같은 크기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인코딩 6종 (순서형 처리)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설계행렬 변경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1종만 통과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검증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절차만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남기고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배포본은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유지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1339626-0683-3789-031C-32ED71C04931}"/>
              </a:ext>
            </a:extLst>
          </p:cNvPr>
          <p:cNvSpPr txBox="1"/>
          <p:nvPr/>
        </p:nvSpPr>
        <p:spPr>
          <a:xfrm>
            <a:off x="566928" y="3520440"/>
            <a:ext cx="4543552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n-ea"/>
              </a:rPr>
              <a:t>기준선이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스스로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흔들리는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폭</a:t>
            </a:r>
          </a:p>
          <a:p>
            <a:pPr algn="l">
              <a:spcAft>
                <a:spcPts val="600"/>
              </a:spcAft>
            </a:pPr>
            <a:r>
              <a:rPr lang="ko-KR" altLang="en-US" sz="1400" b="0" dirty="0">
                <a:latin typeface="+mn-ea"/>
              </a:rPr>
              <a:t>같은 모델을 다섯 번 다시 </a:t>
            </a:r>
            <a:r>
              <a:rPr lang="ko-KR" altLang="en-US" sz="1400" b="0" dirty="0" err="1">
                <a:latin typeface="+mn-ea"/>
              </a:rPr>
              <a:t>재봤더니</a:t>
            </a:r>
            <a:r>
              <a:rPr lang="ko-KR" altLang="en-US" sz="1400" b="0" dirty="0">
                <a:latin typeface="+mn-ea"/>
              </a:rPr>
              <a:t> 점수가 이만큼 오르내렸습니다</a:t>
            </a:r>
            <a:r>
              <a:rPr lang="en-US" altLang="ko-KR" sz="1400" b="0" dirty="0">
                <a:latin typeface="+mn-ea"/>
              </a:rPr>
              <a:t>. </a:t>
            </a:r>
            <a:r>
              <a:rPr lang="ko-KR" altLang="en-US" sz="1400" b="0" dirty="0">
                <a:latin typeface="+mn-ea"/>
              </a:rPr>
              <a:t>우리가 비교하던 차이보다 흔들림이 더 컸습니다</a:t>
            </a:r>
            <a:endParaRPr sz="1400" b="0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BBEF4B-8FE3-3B74-F73F-33D4EFC4BE3E}"/>
              </a:ext>
            </a:extLst>
          </p:cNvPr>
          <p:cNvSpPr txBox="1"/>
          <p:nvPr/>
        </p:nvSpPr>
        <p:spPr>
          <a:xfrm>
            <a:off x="6096000" y="3520440"/>
            <a:ext cx="5562600" cy="13542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n-ea"/>
              </a:rPr>
              <a:t>단순한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쪽이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이긴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이유</a:t>
            </a:r>
            <a:endParaRPr sz="1600" b="1" dirty="0">
              <a:solidFill>
                <a:srgbClr val="2B2724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A443E"/>
                </a:solidFill>
                <a:latin typeface="+mn-ea"/>
              </a:rPr>
              <a:t>3,000건에 5클래스,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그중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5등급은 61건뿐입니다.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상호작용을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배우기엔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표본이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얇아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단순한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모델이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과적합을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덜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합니다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EB6834"/>
                </a:solidFill>
                <a:latin typeface="+mn-ea"/>
              </a:rPr>
              <a:t>부수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효과가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컸습니다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—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기여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요인이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근사가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아니라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정확히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EB6834"/>
                </a:solidFill>
                <a:latin typeface="+mn-ea"/>
              </a:rPr>
              <a:t>분해됩니다</a:t>
            </a:r>
            <a:r>
              <a:rPr sz="1400" b="0" dirty="0">
                <a:solidFill>
                  <a:srgbClr val="EB6834"/>
                </a:solidFill>
                <a:latin typeface="+mn-ea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53BCEB-78E0-A993-7582-FEF2D145D1A6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12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02171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315E4-CB91-B7A4-ED9D-42870542E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dirty="0">
                <a:solidFill>
                  <a:srgbClr val="2B2724"/>
                </a:solidFill>
                <a:latin typeface="AppleGothic"/>
              </a:rPr>
              <a:t>문항 수를 먼저 정하지 않았습니다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CB704-008F-535D-512F-5F9B10C2FA87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Feature Selection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12" name="Picture 3" descr="V07-문항수-F1.png">
            <a:extLst>
              <a:ext uri="{FF2B5EF4-FFF2-40B4-BE49-F238E27FC236}">
                <a16:creationId xmlns:a16="http://schemas.microsoft.com/office/drawing/2014/main" id="{CC7A0638-CCA3-2004-5C76-9ACC42F56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38" y="1280160"/>
            <a:ext cx="5619403" cy="2377440"/>
          </a:xfrm>
          <a:prstGeom prst="rect">
            <a:avLst/>
          </a:prstGeom>
        </p:spPr>
      </p:pic>
      <p:pic>
        <p:nvPicPr>
          <p:cNvPr id="14" name="Picture 4" descr="V08-문항수-재현율.png">
            <a:extLst>
              <a:ext uri="{FF2B5EF4-FFF2-40B4-BE49-F238E27FC236}">
                <a16:creationId xmlns:a16="http://schemas.microsoft.com/office/drawing/2014/main" id="{83D62FA1-EF20-B856-9CEA-D4F62F0D5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38" y="3749039"/>
            <a:ext cx="5619403" cy="23774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A168D6E-8ECF-BFBD-1095-D7FA943F7AED}"/>
              </a:ext>
            </a:extLst>
          </p:cNvPr>
          <p:cNvSpPr txBox="1"/>
          <p:nvPr/>
        </p:nvSpPr>
        <p:spPr>
          <a:xfrm>
            <a:off x="6400800" y="1463040"/>
            <a:ext cx="5303520" cy="415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dirty="0" err="1">
                <a:solidFill>
                  <a:srgbClr val="2B2724"/>
                </a:solidFill>
                <a:latin typeface="+mj-ea"/>
                <a:ea typeface="+mj-ea"/>
              </a:rPr>
              <a:t>후진</a:t>
            </a:r>
            <a:r>
              <a:rPr b="1" dirty="0">
                <a:solidFill>
                  <a:srgbClr val="2B2724"/>
                </a:solidFill>
                <a:latin typeface="+mj-ea"/>
                <a:ea typeface="+mj-ea"/>
              </a:rPr>
              <a:t> </a:t>
            </a:r>
            <a:r>
              <a:rPr b="1" dirty="0" err="1">
                <a:solidFill>
                  <a:srgbClr val="2B2724"/>
                </a:solidFill>
                <a:latin typeface="+mj-ea"/>
                <a:ea typeface="+mj-ea"/>
              </a:rPr>
              <a:t>제거</a:t>
            </a:r>
            <a:r>
              <a:rPr b="1" dirty="0">
                <a:solidFill>
                  <a:srgbClr val="2B2724"/>
                </a:solidFill>
                <a:latin typeface="+mj-ea"/>
                <a:ea typeface="+mj-ea"/>
              </a:rPr>
              <a:t> (backward elimination)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38개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전체로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기준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모델을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만들고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, 덜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기여하는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변수를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하나씩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빼면서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5-fold 로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다시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잽니다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j-ea"/>
              <a:ea typeface="+mj-ea"/>
            </a:endParaRPr>
          </a:p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멈추는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조건을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먼저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정했습니다</a:t>
            </a:r>
            <a:endParaRPr sz="1600" b="1" dirty="0">
              <a:solidFill>
                <a:srgbClr val="EB6834"/>
              </a:solidFill>
              <a:latin typeface="+mj-ea"/>
              <a:ea typeface="+mj-ea"/>
            </a:endParaRP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2B2724"/>
                </a:solidFill>
                <a:latin typeface="+mj-ea"/>
                <a:ea typeface="+mj-ea"/>
              </a:rPr>
              <a:t>F1 </a:t>
            </a:r>
            <a:r>
              <a:rPr sz="1600" b="1" dirty="0" err="1">
                <a:solidFill>
                  <a:srgbClr val="2B2724"/>
                </a:solidFill>
                <a:latin typeface="+mj-ea"/>
                <a:ea typeface="+mj-ea"/>
              </a:rPr>
              <a:t>손실</a:t>
            </a:r>
            <a:r>
              <a:rPr sz="1600" b="1" dirty="0">
                <a:solidFill>
                  <a:srgbClr val="2B2724"/>
                </a:solidFill>
                <a:latin typeface="+mj-ea"/>
                <a:ea typeface="+mj-ea"/>
              </a:rPr>
              <a:t> ≤ 0.03</a:t>
            </a:r>
          </a:p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j-ea"/>
                <a:ea typeface="+mj-ea"/>
              </a:rPr>
              <a:t>재현율</a:t>
            </a:r>
            <a:r>
              <a:rPr sz="1600" b="1" dirty="0">
                <a:solidFill>
                  <a:srgbClr val="2B272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j-ea"/>
                <a:ea typeface="+mj-ea"/>
              </a:rPr>
              <a:t>손실</a:t>
            </a:r>
            <a:r>
              <a:rPr sz="1600" b="1" dirty="0">
                <a:solidFill>
                  <a:srgbClr val="2B2724"/>
                </a:solidFill>
                <a:latin typeface="+mj-ea"/>
                <a:ea typeface="+mj-ea"/>
              </a:rPr>
              <a:t> ≤ 0.05</a:t>
            </a:r>
          </a:p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j-ea"/>
                <a:ea typeface="+mj-ea"/>
              </a:rPr>
              <a:t>재현율</a:t>
            </a:r>
            <a:r>
              <a:rPr sz="1600" b="1" dirty="0">
                <a:solidFill>
                  <a:srgbClr val="2B2724"/>
                </a:solidFill>
                <a:latin typeface="+mj-ea"/>
                <a:ea typeface="+mj-ea"/>
              </a:rPr>
              <a:t> ≥ 0.70</a:t>
            </a:r>
          </a:p>
          <a:p>
            <a:pPr algn="l">
              <a:spcAft>
                <a:spcPts val="600"/>
              </a:spcAft>
            </a:pPr>
            <a:endParaRPr sz="1600" b="1" dirty="0">
              <a:solidFill>
                <a:srgbClr val="2B2724"/>
              </a:solidFill>
              <a:latin typeface="+mj-ea"/>
              <a:ea typeface="+mj-ea"/>
            </a:endParaRP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단독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설명력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순위로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자르지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않았습니다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—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변수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간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중복을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반영하지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못하기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j-ea"/>
                <a:ea typeface="+mj-ea"/>
              </a:rPr>
              <a:t>때문입니다</a:t>
            </a:r>
            <a:r>
              <a:rPr sz="1400" b="0" dirty="0">
                <a:solidFill>
                  <a:srgbClr val="4A443E"/>
                </a:solidFill>
                <a:latin typeface="+mj-ea"/>
                <a:ea typeface="+mj-ea"/>
              </a:rPr>
              <a:t>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j-ea"/>
              <a:ea typeface="+mj-ea"/>
            </a:endParaRPr>
          </a:p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성능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손실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허용치를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먼저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정하고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문항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수를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결과로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 </a:t>
            </a:r>
            <a:r>
              <a:rPr sz="1600" b="1" dirty="0" err="1">
                <a:solidFill>
                  <a:srgbClr val="EB6834"/>
                </a:solidFill>
                <a:latin typeface="+mj-ea"/>
                <a:ea typeface="+mj-ea"/>
              </a:rPr>
              <a:t>얻었습니다</a:t>
            </a:r>
            <a:r>
              <a:rPr sz="1600" b="1" dirty="0">
                <a:solidFill>
                  <a:srgbClr val="EB6834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D2EC3C-FAFE-D841-8994-9A13C470D1C6}"/>
              </a:ext>
            </a:extLst>
          </p:cNvPr>
          <p:cNvSpPr txBox="1"/>
          <p:nvPr/>
        </p:nvSpPr>
        <p:spPr>
          <a:xfrm>
            <a:off x="566928" y="6327648"/>
            <a:ext cx="110642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dirty="0" err="1">
                <a:solidFill>
                  <a:srgbClr val="8A8176"/>
                </a:solidFill>
                <a:latin typeface="AppleGothic"/>
              </a:rPr>
              <a:t>계획서의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"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핵심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30문항"이 7문항이 된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경위입니다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·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하한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0.70 은 한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번도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깨지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+mn-ea"/>
              </a:rPr>
              <a:t>않았습니다</a:t>
            </a:r>
            <a:endParaRPr sz="1050" b="0" dirty="0">
              <a:solidFill>
                <a:srgbClr val="8A8176"/>
              </a:solidFill>
              <a:latin typeface="+mn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DF9F0F-7B66-F8FB-7B2E-288492BB8B7F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13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342547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B4B15-A5C0-501A-C282-F0740C59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채택된 </a:t>
            </a:r>
            <a:r>
              <a:rPr lang="en-US" altLang="ko-KR" dirty="0">
                <a:solidFill>
                  <a:srgbClr val="2B2724"/>
                </a:solidFill>
                <a:latin typeface="Apple SD Gothic Neo"/>
              </a:rPr>
              <a:t>7</a:t>
            </a:r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문항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3F856A-5C4F-EBC7-6514-23BE77185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000" y="5222241"/>
            <a:ext cx="11280000" cy="10869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단독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1·2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위는 살아남았지만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3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위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(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통상근로 가능 여부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)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는 탈락했습니다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F1(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근로 의미 이해도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)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과 정보가 겹쳤기 때문입니다 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600" dirty="0">
                <a:solidFill>
                  <a:srgbClr val="4A443E"/>
                </a:solidFill>
                <a:latin typeface="+mn-ea"/>
              </a:rPr>
              <a:t>후진 제거가 중복을 걸러낸 결과입니다</a:t>
            </a:r>
            <a:r>
              <a:rPr lang="en-US" altLang="ko-KR" sz="16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E14A6-797E-440C-A489-5592B074DE6F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100" b="1" dirty="0">
                <a:solidFill>
                  <a:srgbClr val="EB6834"/>
                </a:solidFill>
                <a:latin typeface="+mn-ea"/>
              </a:rPr>
              <a:t>Feature Selection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45D62283-63B4-FBE6-7FC2-C8B7688FF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21120"/>
              </p:ext>
            </p:extLst>
          </p:nvPr>
        </p:nvGraphicFramePr>
        <p:xfrm>
          <a:off x="566928" y="1371600"/>
          <a:ext cx="110642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62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endParaRPr sz="1800" dirty="0"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원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문항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질문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단독</a:t>
                      </a:r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설명력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G6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돌보고 계신 당사자에게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하루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중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어느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정도의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도움이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필요한가요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8.23%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F1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당사자는 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"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일을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한다"는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것의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의미를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어느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이해하나요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7.98%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F5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취업에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대해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가족들이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어느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지지하고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있나요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3.94%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G8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요즘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하루하루의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일과를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어떻게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느끼고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있나요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3.51%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I4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가구의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생계를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주로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책임지는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분은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누구인가요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1.67%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A1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응답하시는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분은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어떤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관계인가요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1.18%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E4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당사자가 일을 그만둔 적이 있다면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마지막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일자리를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그만둔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가장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큰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이유는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1.15%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CE4801F-DFFA-95DC-9CC1-B897FA652C3A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14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970903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61BB2-B32E-FBEC-B882-DBEB6C0F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2B2724"/>
                </a:solidFill>
                <a:latin typeface="AppleGothic"/>
              </a:rPr>
              <a:t>31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개를 버렸는데 오류 구조가 그대로입니다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1E9368-C7A3-A797-C259-4EAB9EBBC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8480" y="1737223"/>
            <a:ext cx="3577520" cy="4454027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재현율은 오히려 올랐습니다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b="1" dirty="0">
                <a:solidFill>
                  <a:srgbClr val="EB6834"/>
                </a:solidFill>
                <a:latin typeface="+mn-ea"/>
              </a:rPr>
              <a:t>0.764 → 0.784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b="1" dirty="0">
              <a:solidFill>
                <a:srgbClr val="EB6834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선정 기준은 정지 조건이지만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그 조건이 옳았음을 보여주는 것은 혼동행렬입니다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그런데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2×2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로만 보면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문항도 멀쩡해 보입니다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재현율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0.785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로 더 높습니다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82D82-ACF3-A623-A537-2313A8AE89D1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검증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7" name="Picture 3" descr="V09-혼동행렬2x2-38문항.png">
            <a:extLst>
              <a:ext uri="{FF2B5EF4-FFF2-40B4-BE49-F238E27FC236}">
                <a16:creationId xmlns:a16="http://schemas.microsoft.com/office/drawing/2014/main" id="{0F2205BA-B328-16EA-FCB1-7CE0A2F7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223"/>
            <a:ext cx="3383280" cy="3109234"/>
          </a:xfrm>
          <a:prstGeom prst="rect">
            <a:avLst/>
          </a:prstGeom>
        </p:spPr>
      </p:pic>
      <p:pic>
        <p:nvPicPr>
          <p:cNvPr id="9" name="Picture 4" descr="V09-혼동행렬2x2-7문항.png">
            <a:extLst>
              <a:ext uri="{FF2B5EF4-FFF2-40B4-BE49-F238E27FC236}">
                <a16:creationId xmlns:a16="http://schemas.microsoft.com/office/drawing/2014/main" id="{C142422A-30C0-61ED-F247-9C682209D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737223"/>
            <a:ext cx="3383280" cy="31092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9D842D-A10C-A154-85EE-111602AD32EA}"/>
              </a:ext>
            </a:extLst>
          </p:cNvPr>
          <p:cNvSpPr txBox="1"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dirty="0" err="1">
                <a:solidFill>
                  <a:srgbClr val="8A8176"/>
                </a:solidFill>
                <a:latin typeface="AppleGothic"/>
              </a:rPr>
              <a:t>교차검증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2,398건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기준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· 셀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안은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건수와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행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기준</a:t>
            </a:r>
            <a:r>
              <a:rPr sz="1050" b="0" dirty="0">
                <a:solidFill>
                  <a:srgbClr val="8A8176"/>
                </a:solidFill>
                <a:latin typeface="AppleGothic"/>
              </a:rPr>
              <a:t> </a:t>
            </a:r>
            <a:r>
              <a:rPr sz="1050" b="0" dirty="0" err="1">
                <a:solidFill>
                  <a:srgbClr val="8A8176"/>
                </a:solidFill>
                <a:latin typeface="AppleGothic"/>
              </a:rPr>
              <a:t>비율</a:t>
            </a:r>
            <a:endParaRPr sz="1050" b="0" dirty="0">
              <a:solidFill>
                <a:srgbClr val="8A8176"/>
              </a:solidFill>
              <a:latin typeface="Apple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A859A-BB43-5F05-75B5-33169BDB1F80}"/>
              </a:ext>
            </a:extLst>
          </p:cNvPr>
          <p:cNvSpPr txBox="1"/>
          <p:nvPr/>
        </p:nvSpPr>
        <p:spPr>
          <a:xfrm>
            <a:off x="1249680" y="1366718"/>
            <a:ext cx="2987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ko-KR" sz="1400" b="1" dirty="0">
                <a:latin typeface="+mn-ea"/>
              </a:rPr>
              <a:t>38</a:t>
            </a:r>
            <a:r>
              <a:rPr lang="ko-KR" altLang="en-US" sz="1400" b="1" dirty="0">
                <a:latin typeface="+mn-ea"/>
              </a:rPr>
              <a:t>문항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5B80A8-09AA-E699-0D3F-58E8C8A67293}"/>
              </a:ext>
            </a:extLst>
          </p:cNvPr>
          <p:cNvSpPr txBox="1"/>
          <p:nvPr/>
        </p:nvSpPr>
        <p:spPr>
          <a:xfrm>
            <a:off x="4663440" y="1366717"/>
            <a:ext cx="339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ko-KR" sz="1400" b="1" dirty="0">
                <a:latin typeface="+mn-ea"/>
              </a:rPr>
              <a:t>7</a:t>
            </a:r>
            <a:r>
              <a:rPr lang="ko-KR" altLang="en-US" sz="1400" b="1" dirty="0">
                <a:latin typeface="+mn-ea"/>
              </a:rPr>
              <a:t>문항</a:t>
            </a:r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92FD0A5B-FE66-FE1E-B216-7C538DE1233D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15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203037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2B445-78CB-780B-5912-1B92389E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왜 </a:t>
            </a:r>
            <a:r>
              <a:rPr lang="en-US" altLang="ko-KR" dirty="0">
                <a:solidFill>
                  <a:srgbClr val="2B2724"/>
                </a:solidFill>
                <a:latin typeface="AppleGothic"/>
              </a:rPr>
              <a:t>6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에서 멈추지 않고 </a:t>
            </a:r>
            <a:r>
              <a:rPr lang="en-US" altLang="ko-KR" dirty="0">
                <a:solidFill>
                  <a:srgbClr val="2B2724"/>
                </a:solidFill>
                <a:latin typeface="AppleGothic"/>
              </a:rPr>
              <a:t>7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을 골랐나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18346-4138-0627-1197-7B0C0611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600" y="1674495"/>
            <a:ext cx="3276400" cy="4516755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최고부담군 </a:t>
            </a:r>
            <a:r>
              <a:rPr lang="ko-KR" altLang="en-US" sz="1400" b="1" dirty="0" err="1">
                <a:solidFill>
                  <a:srgbClr val="2B2724"/>
                </a:solidFill>
                <a:latin typeface="+mn-ea"/>
              </a:rPr>
              <a:t>재현율</a:t>
            </a:r>
            <a:endParaRPr lang="ko-KR" altLang="en-US" sz="1400" b="1" dirty="0">
              <a:solidFill>
                <a:srgbClr val="2B2724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0.183 → 0.054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800" b="1" dirty="0">
              <a:solidFill>
                <a:srgbClr val="EB6834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예측 건수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147</a:t>
            </a:r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건 → </a:t>
            </a: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44</a:t>
            </a:r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건</a:t>
            </a:r>
          </a:p>
          <a:p>
            <a:pPr marL="0" indent="0">
              <a:spcAft>
                <a:spcPts val="600"/>
              </a:spcAft>
              <a:buNone/>
            </a:pPr>
            <a:endParaRPr lang="ko-KR" altLang="en-US" sz="1800" b="1" dirty="0">
              <a:solidFill>
                <a:srgbClr val="EB6834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전체 정확도는 거의 같은데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가장 도움이 절실한 구간을 가려내는 능력만 사라집니다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  <a:endParaRPr lang="ko-KR" altLang="en-US" sz="18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1AA092-61E9-56D8-011D-8C7B7361A07D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검증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9" name="Picture 3" descr="V12-혼동행렬5x5-7문항.png">
            <a:extLst>
              <a:ext uri="{FF2B5EF4-FFF2-40B4-BE49-F238E27FC236}">
                <a16:creationId xmlns:a16="http://schemas.microsoft.com/office/drawing/2014/main" id="{26F14D5B-8C09-596E-2BBE-953C0048B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74495"/>
            <a:ext cx="4114800" cy="3600450"/>
          </a:xfrm>
          <a:prstGeom prst="rect">
            <a:avLst/>
          </a:prstGeom>
        </p:spPr>
      </p:pic>
      <p:pic>
        <p:nvPicPr>
          <p:cNvPr id="11" name="Picture 4" descr="V12-혼동행렬5x5-6문항.png">
            <a:extLst>
              <a:ext uri="{FF2B5EF4-FFF2-40B4-BE49-F238E27FC236}">
                <a16:creationId xmlns:a16="http://schemas.microsoft.com/office/drawing/2014/main" id="{0AE68A1B-FA02-3A77-EACE-A66DCF2CD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0" y="1674495"/>
            <a:ext cx="4114800" cy="36004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B698CD-A889-0C9D-04C4-928A3FFCA64F}"/>
              </a:ext>
            </a:extLst>
          </p:cNvPr>
          <p:cNvSpPr txBox="1"/>
          <p:nvPr/>
        </p:nvSpPr>
        <p:spPr>
          <a:xfrm>
            <a:off x="566928" y="6327648"/>
            <a:ext cx="110642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8A8176"/>
                </a:solidFill>
                <a:latin typeface="+mn-ea"/>
              </a:rPr>
              <a:t>2×2 로는 같아 보이지만 5구간으로 보면 다릅니다 · 교차검증 2,398건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717235-1CFE-CC93-955F-63900DDFCE0D}"/>
              </a:ext>
            </a:extLst>
          </p:cNvPr>
          <p:cNvSpPr txBox="1"/>
          <p:nvPr/>
        </p:nvSpPr>
        <p:spPr>
          <a:xfrm>
            <a:off x="1249680" y="1366718"/>
            <a:ext cx="2987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ko-KR" sz="1400" b="1" dirty="0">
                <a:latin typeface="+mn-ea"/>
              </a:rPr>
              <a:t>7</a:t>
            </a:r>
            <a:r>
              <a:rPr lang="ko-KR" altLang="en-US" sz="1400" b="1" dirty="0">
                <a:latin typeface="+mn-ea"/>
              </a:rPr>
              <a:t>문항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B0550F-92D6-3C11-1625-23CFBB45846C}"/>
              </a:ext>
            </a:extLst>
          </p:cNvPr>
          <p:cNvSpPr txBox="1"/>
          <p:nvPr/>
        </p:nvSpPr>
        <p:spPr>
          <a:xfrm>
            <a:off x="4663440" y="1366717"/>
            <a:ext cx="339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ko-KR" sz="1400" b="1" dirty="0">
                <a:latin typeface="+mn-ea"/>
              </a:rPr>
              <a:t>6</a:t>
            </a:r>
            <a:r>
              <a:rPr lang="ko-KR" altLang="en-US" sz="1400" b="1" dirty="0">
                <a:latin typeface="+mn-ea"/>
              </a:rPr>
              <a:t>문항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484456D-0491-53CE-35AE-05A75E358B64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16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011889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164BA-E5C4-A6CB-EBCE-0B54F49F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문항을 </a:t>
            </a:r>
            <a:r>
              <a:rPr lang="en-US" altLang="ko-KR" dirty="0">
                <a:solidFill>
                  <a:srgbClr val="2B2724"/>
                </a:solidFill>
                <a:latin typeface="AppleGothic"/>
              </a:rPr>
              <a:t>14</a:t>
            </a:r>
            <a:r>
              <a:rPr lang="ko-KR" altLang="en-US" dirty="0">
                <a:solidFill>
                  <a:srgbClr val="2B2724"/>
                </a:solidFill>
                <a:latin typeface="AppleGothic"/>
              </a:rPr>
              <a:t>개로 늘려 봤다가 되돌렸습니다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603881-243F-B7FA-DB9D-8E5A79387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754880"/>
            <a:ext cx="11280000" cy="143637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7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문항으로 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고부담군입니다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라고 하면 신뢰하기 어렵다는 판단에서 출발했습니다</a:t>
            </a:r>
            <a:r>
              <a:rPr lang="en-US" altLang="ko-KR" sz="16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원인은 나이 변수였습니다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보호자 나이는 한 살 단위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78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개 범주라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"57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세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는 학습 데이터의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1.3%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뿐이고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희소한 조합으로 분류되어 판정 불가가 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응답 부담은 늘리고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결과를 못 받는 사람도 늘렸으며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정확도는 얻지 못했습니다 → </a:t>
            </a:r>
            <a:r>
              <a:rPr lang="en-US" altLang="ko-KR" sz="1400" b="1" dirty="0">
                <a:solidFill>
                  <a:srgbClr val="EB6834"/>
                </a:solidFill>
                <a:latin typeface="+mn-ea"/>
              </a:rPr>
              <a:t>7</a:t>
            </a:r>
            <a:r>
              <a:rPr lang="ko-KR" altLang="en-US" sz="1400" b="1" dirty="0">
                <a:solidFill>
                  <a:srgbClr val="EB6834"/>
                </a:solidFill>
                <a:latin typeface="+mn-ea"/>
              </a:rPr>
              <a:t>문항 복귀</a:t>
            </a:r>
          </a:p>
          <a:p>
            <a:pPr marL="0" indent="0">
              <a:buNone/>
            </a:pPr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D025C-5FA9-0B77-C8C0-DFBDF14FC312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되돌린 결정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7" name="Picture 3" descr="V14-7vs14-F1.png">
            <a:extLst>
              <a:ext uri="{FF2B5EF4-FFF2-40B4-BE49-F238E27FC236}">
                <a16:creationId xmlns:a16="http://schemas.microsoft.com/office/drawing/2014/main" id="{2D9E832A-5DBE-9390-A9F2-2763DADFD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7062"/>
            <a:ext cx="2651760" cy="2243796"/>
          </a:xfrm>
          <a:prstGeom prst="rect">
            <a:avLst/>
          </a:prstGeom>
        </p:spPr>
      </p:pic>
      <p:pic>
        <p:nvPicPr>
          <p:cNvPr id="9" name="Picture 4" descr="V15-7vs14-재현율.png">
            <a:extLst>
              <a:ext uri="{FF2B5EF4-FFF2-40B4-BE49-F238E27FC236}">
                <a16:creationId xmlns:a16="http://schemas.microsoft.com/office/drawing/2014/main" id="{B3C663CD-A5C3-EA09-7391-A139FA23C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987062"/>
            <a:ext cx="2651760" cy="2243796"/>
          </a:xfrm>
          <a:prstGeom prst="rect">
            <a:avLst/>
          </a:prstGeom>
        </p:spPr>
      </p:pic>
      <p:pic>
        <p:nvPicPr>
          <p:cNvPr id="11" name="Picture 5" descr="V16-7vs14-판정불가.png">
            <a:extLst>
              <a:ext uri="{FF2B5EF4-FFF2-40B4-BE49-F238E27FC236}">
                <a16:creationId xmlns:a16="http://schemas.microsoft.com/office/drawing/2014/main" id="{ABEEA742-56D4-F0D7-0169-D6D977540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987062"/>
            <a:ext cx="2651760" cy="2243796"/>
          </a:xfrm>
          <a:prstGeom prst="rect">
            <a:avLst/>
          </a:prstGeom>
        </p:spPr>
      </p:pic>
      <p:pic>
        <p:nvPicPr>
          <p:cNvPr id="13" name="Picture 6" descr="V17-7vs14-열수.png">
            <a:extLst>
              <a:ext uri="{FF2B5EF4-FFF2-40B4-BE49-F238E27FC236}">
                <a16:creationId xmlns:a16="http://schemas.microsoft.com/office/drawing/2014/main" id="{83D61DE8-3E17-96B3-3A65-6E339E33A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987062"/>
            <a:ext cx="2651760" cy="22437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2EEF82-EEA6-7DAF-9F7E-EDE3E622C4F8}"/>
              </a:ext>
            </a:extLst>
          </p:cNvPr>
          <p:cNvSpPr txBox="1"/>
          <p:nvPr/>
        </p:nvSpPr>
        <p:spPr>
          <a:xfrm>
            <a:off x="1010920" y="1648644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Macro F1 (test)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BF613-7B89-231A-65C9-69F829DE3C82}"/>
              </a:ext>
            </a:extLst>
          </p:cNvPr>
          <p:cNvSpPr txBox="1"/>
          <p:nvPr/>
        </p:nvSpPr>
        <p:spPr>
          <a:xfrm>
            <a:off x="3845560" y="1655920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고부담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재현율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82358D-018F-6AD2-FA74-FF62B8D710D7}"/>
              </a:ext>
            </a:extLst>
          </p:cNvPr>
          <p:cNvSpPr txBox="1"/>
          <p:nvPr/>
        </p:nvSpPr>
        <p:spPr>
          <a:xfrm>
            <a:off x="6680200" y="1648645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판정 불가 비율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91755D-4CCA-9D5C-708B-49A9EAC23DCA}"/>
              </a:ext>
            </a:extLst>
          </p:cNvPr>
          <p:cNvSpPr txBox="1"/>
          <p:nvPr/>
        </p:nvSpPr>
        <p:spPr>
          <a:xfrm>
            <a:off x="9514840" y="1655920"/>
            <a:ext cx="172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원</a:t>
            </a:r>
            <a:r>
              <a:rPr lang="en-US" altLang="ko-KR" sz="1400" dirty="0"/>
              <a:t>-</a:t>
            </a:r>
            <a:r>
              <a:rPr lang="ko-KR" altLang="en-US" sz="1400" dirty="0"/>
              <a:t>핫 열 수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AB761B07-2985-11AD-A0F9-DA860A0CD4D6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17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722756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6FA6C-6E59-4F9A-0F02-C2010D3E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무엇을 할 수 있고 무엇을 못 하나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DE6C49-AD19-6767-95B6-A2758E588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602480"/>
            <a:ext cx="11280000" cy="15887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고부담인 사람을 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부담 없음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으로 판정한 경우는 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test 602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건 중 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0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건입니다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설계로 만든 결과입니다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판정 시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1·2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단계 확률에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1.1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배를 곱합니다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이 값은 사람이 고른 것이 아니라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재현율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0.73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이상 중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macro F1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최대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규칙이 자동으로 찾았습니다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평가 함정 하나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—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스태킹은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구간 정확도만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0.4754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로 가장 높지만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고부담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재현율은 더 낮습니다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정확도로 골랐다면 잘못 골랐을 것입니다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5394-25B4-F7D5-CA9C-2470467FD740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ko-KR" sz="1100" b="1" dirty="0">
                <a:solidFill>
                  <a:srgbClr val="EB6834"/>
                </a:solidFill>
                <a:latin typeface="+mn-ea"/>
              </a:rPr>
              <a:t>Prediction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3970E-CF70-2734-8CA6-7FD2A1F30F39}"/>
              </a:ext>
            </a:extLst>
          </p:cNvPr>
          <p:cNvSpPr txBox="1"/>
          <p:nvPr/>
        </p:nvSpPr>
        <p:spPr>
          <a:xfrm>
            <a:off x="566928" y="1417320"/>
            <a:ext cx="5394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EB6834"/>
                </a:solidFill>
                <a:latin typeface="+mn-ea"/>
              </a:rPr>
              <a:t>할 수 있는 것 — 고부담 여부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3F7C120A-85C9-4ADB-A7EF-DA4CFBC66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497836"/>
              </p:ext>
            </p:extLst>
          </p:nvPr>
        </p:nvGraphicFramePr>
        <p:xfrm>
          <a:off x="566928" y="1874519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지표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값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재현율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0.7730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 정밀도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0.695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lang="ko-KR" altLang="en-US" sz="14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여부 정확도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68.97 %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고부담을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"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부담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없음"으로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오판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73C186F-E1F4-80F6-F6F6-2DFDDB5A47E9}"/>
              </a:ext>
            </a:extLst>
          </p:cNvPr>
          <p:cNvSpPr txBox="1"/>
          <p:nvPr/>
        </p:nvSpPr>
        <p:spPr>
          <a:xfrm>
            <a:off x="6263640" y="1417320"/>
            <a:ext cx="5394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2B2724"/>
                </a:solidFill>
                <a:latin typeface="+mn-ea"/>
              </a:rPr>
              <a:t>못 하는 것 — 5구간 정밀 판정</a:t>
            </a:r>
          </a:p>
        </p:txBody>
      </p:sp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900C7B92-3270-9216-6626-81BF52D70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456889"/>
              </p:ext>
            </p:extLst>
          </p:nvPr>
        </p:nvGraphicFramePr>
        <p:xfrm>
          <a:off x="6263640" y="1874519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지표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값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5구간 정확도 (판정된 587건 기준)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48.7 %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macro F1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0.3416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"부담 없음" 16건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한 건도 못 맞힘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한 칸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빗나감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/ 두 칸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이상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41.4% / 9.9%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6A635A7A-4796-1BAB-43CB-4B5D289CE47B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18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125230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ECE10-4825-83B7-F955-4E37E14B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모르는 것을 모른다고 말합니다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786F19-5889-BCE7-906C-F1F85D395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040" y="1417320"/>
            <a:ext cx="5394960" cy="217932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판정하지 않아도 기관 안내는 나갑니다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판정 불가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15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명의 실제 부담은 최고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4 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고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4 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중간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4 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2 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없음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1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로 골고루 흩어져 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그중 여덟 명이 실제 </a:t>
            </a:r>
            <a:r>
              <a:rPr lang="ko-KR" altLang="en-US" sz="1400" b="1" dirty="0" err="1">
                <a:solidFill>
                  <a:srgbClr val="2B2724"/>
                </a:solidFill>
                <a:latin typeface="+mn-ea"/>
              </a:rPr>
              <a:t>고부담이었습니다</a:t>
            </a:r>
            <a:r>
              <a:rPr lang="en-US" altLang="ko-KR" sz="1400" b="1" dirty="0">
                <a:solidFill>
                  <a:srgbClr val="2B2724"/>
                </a:solidFill>
                <a:latin typeface="+mn-ea"/>
              </a:rPr>
              <a:t>.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그래서 판정을 보류해도 접수처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곳은 그대로 안내합니다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69899-5BB2-192B-97DE-FA022D25FDA2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핵심 설계 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FC7D4-F5A8-3AD2-F151-EFADBA1EE4CB}"/>
              </a:ext>
            </a:extLst>
          </p:cNvPr>
          <p:cNvSpPr txBox="1"/>
          <p:nvPr/>
        </p:nvSpPr>
        <p:spPr>
          <a:xfrm>
            <a:off x="6365040" y="4130040"/>
            <a:ext cx="5394960" cy="14311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 err="1">
                <a:solidFill>
                  <a:srgbClr val="2B2724"/>
                </a:solidFill>
                <a:latin typeface="+mn-ea"/>
              </a:rPr>
              <a:t>희소성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조건이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실제로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B2724"/>
                </a:solidFill>
                <a:latin typeface="+mn-ea"/>
              </a:rPr>
              <a:t>하는</a:t>
            </a:r>
            <a:r>
              <a:rPr sz="1600" b="1" dirty="0">
                <a:solidFill>
                  <a:srgbClr val="2B2724"/>
                </a:solidFill>
                <a:latin typeface="+mn-ea"/>
              </a:rPr>
              <a:t> 일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무작위로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만든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응답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300건 → 63.0% 가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판정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불가</a:t>
            </a:r>
            <a:endParaRPr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실제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조사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응답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300건 → 2.0% 가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판정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불가</a:t>
            </a:r>
            <a:endParaRPr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r>
              <a:rPr sz="1400" b="1" dirty="0" err="1">
                <a:solidFill>
                  <a:srgbClr val="EB6834"/>
                </a:solidFill>
                <a:latin typeface="+mn-ea"/>
              </a:rPr>
              <a:t>정확도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48%인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모델을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서비스로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쓸 수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있게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만든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것이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 이 </a:t>
            </a:r>
            <a:r>
              <a:rPr sz="1400" b="1" dirty="0" err="1">
                <a:solidFill>
                  <a:srgbClr val="EB6834"/>
                </a:solidFill>
                <a:latin typeface="+mn-ea"/>
              </a:rPr>
              <a:t>장치입니다</a:t>
            </a:r>
            <a:r>
              <a:rPr sz="1400" b="1" dirty="0">
                <a:solidFill>
                  <a:srgbClr val="EB6834"/>
                </a:solidFill>
                <a:latin typeface="+mn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8AB373-088B-3CB0-5046-7B73AEFF12F1}"/>
              </a:ext>
            </a:extLst>
          </p:cNvPr>
          <p:cNvSpPr txBox="1"/>
          <p:nvPr/>
        </p:nvSpPr>
        <p:spPr>
          <a:xfrm>
            <a:off x="566928" y="1417320"/>
            <a:ext cx="5394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dirty="0">
                <a:solidFill>
                  <a:srgbClr val="EB6834"/>
                </a:solidFill>
                <a:latin typeface="+mn-ea"/>
              </a:rPr>
              <a:t>두 </a:t>
            </a:r>
            <a:r>
              <a:rPr b="1" dirty="0" err="1">
                <a:solidFill>
                  <a:srgbClr val="EB6834"/>
                </a:solidFill>
                <a:latin typeface="+mn-ea"/>
              </a:rPr>
              <a:t>개의</a:t>
            </a:r>
            <a:r>
              <a:rPr b="1" dirty="0">
                <a:solidFill>
                  <a:srgbClr val="EB6834"/>
                </a:solidFill>
                <a:latin typeface="+mn-ea"/>
              </a:rPr>
              <a:t> </a:t>
            </a:r>
            <a:r>
              <a:rPr b="1" dirty="0" err="1">
                <a:solidFill>
                  <a:srgbClr val="EB6834"/>
                </a:solidFill>
                <a:latin typeface="+mn-ea"/>
              </a:rPr>
              <a:t>문턱을</a:t>
            </a:r>
            <a:r>
              <a:rPr b="1" dirty="0">
                <a:solidFill>
                  <a:srgbClr val="EB6834"/>
                </a:solidFill>
                <a:latin typeface="+mn-ea"/>
              </a:rPr>
              <a:t> </a:t>
            </a:r>
            <a:r>
              <a:rPr b="1" dirty="0" err="1">
                <a:solidFill>
                  <a:srgbClr val="EB6834"/>
                </a:solidFill>
                <a:latin typeface="+mn-ea"/>
              </a:rPr>
              <a:t>함께</a:t>
            </a:r>
            <a:r>
              <a:rPr b="1" dirty="0">
                <a:solidFill>
                  <a:srgbClr val="EB6834"/>
                </a:solidFill>
                <a:latin typeface="+mn-ea"/>
              </a:rPr>
              <a:t> </a:t>
            </a:r>
            <a:r>
              <a:rPr b="1" dirty="0" err="1">
                <a:solidFill>
                  <a:srgbClr val="EB6834"/>
                </a:solidFill>
                <a:latin typeface="+mn-ea"/>
              </a:rPr>
              <a:t>봅니다</a:t>
            </a:r>
            <a:endParaRPr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91619C8-64B7-EBE1-1BE2-A9A17CF87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051551"/>
              </p:ext>
            </p:extLst>
          </p:nvPr>
        </p:nvGraphicFramePr>
        <p:xfrm>
          <a:off x="566928" y="1874519"/>
          <a:ext cx="53949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조건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문턱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걸리면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확신도 (최대 확률)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0.32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확신 부족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희소성 (응답 조합의 흔함)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약 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-2.43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드문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응답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조합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70A026-46F0-C8CC-DBF5-9FE4A1BD1257}"/>
              </a:ext>
            </a:extLst>
          </p:cNvPr>
          <p:cNvSpPr txBox="1"/>
          <p:nvPr/>
        </p:nvSpPr>
        <p:spPr>
          <a:xfrm>
            <a:off x="566928" y="3200400"/>
            <a:ext cx="552907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A443E"/>
                </a:solidFill>
                <a:latin typeface="+mn-ea"/>
              </a:rPr>
              <a:t>둘 중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하나만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걸려도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판정하지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않습니다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 test 602건 중 15건(2.49%)이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여기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해당합니다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DA3362-16DF-3DB1-16EA-FBCDEED76762}"/>
              </a:ext>
            </a:extLst>
          </p:cNvPr>
          <p:cNvSpPr txBox="1"/>
          <p:nvPr/>
        </p:nvSpPr>
        <p:spPr>
          <a:xfrm>
            <a:off x="566928" y="4130040"/>
            <a:ext cx="5394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b="1" dirty="0" err="1">
                <a:solidFill>
                  <a:srgbClr val="2B2724"/>
                </a:solidFill>
                <a:latin typeface="+mn-ea"/>
              </a:rPr>
              <a:t>문턱이</a:t>
            </a:r>
            <a:r>
              <a:rPr b="1" dirty="0">
                <a:solidFill>
                  <a:srgbClr val="2B2724"/>
                </a:solidFill>
                <a:latin typeface="+mn-ea"/>
              </a:rPr>
              <a:t> </a:t>
            </a:r>
            <a:r>
              <a:rPr b="1" dirty="0" err="1">
                <a:solidFill>
                  <a:srgbClr val="2B2724"/>
                </a:solidFill>
                <a:latin typeface="+mn-ea"/>
              </a:rPr>
              <a:t>임의의</a:t>
            </a:r>
            <a:r>
              <a:rPr b="1" dirty="0">
                <a:solidFill>
                  <a:srgbClr val="2B2724"/>
                </a:solidFill>
                <a:latin typeface="+mn-ea"/>
              </a:rPr>
              <a:t> </a:t>
            </a:r>
            <a:r>
              <a:rPr b="1" dirty="0" err="1">
                <a:solidFill>
                  <a:srgbClr val="2B2724"/>
                </a:solidFill>
                <a:latin typeface="+mn-ea"/>
              </a:rPr>
              <a:t>값이</a:t>
            </a:r>
            <a:r>
              <a:rPr b="1" dirty="0">
                <a:solidFill>
                  <a:srgbClr val="2B2724"/>
                </a:solidFill>
                <a:latin typeface="+mn-ea"/>
              </a:rPr>
              <a:t> </a:t>
            </a:r>
            <a:r>
              <a:rPr b="1" dirty="0" err="1">
                <a:solidFill>
                  <a:srgbClr val="2B2724"/>
                </a:solidFill>
                <a:latin typeface="+mn-ea"/>
              </a:rPr>
              <a:t>아닌</a:t>
            </a:r>
            <a:r>
              <a:rPr b="1" dirty="0">
                <a:solidFill>
                  <a:srgbClr val="2B2724"/>
                </a:solidFill>
                <a:latin typeface="+mn-ea"/>
              </a:rPr>
              <a:t> </a:t>
            </a:r>
            <a:r>
              <a:rPr b="1" dirty="0" err="1">
                <a:solidFill>
                  <a:srgbClr val="2B2724"/>
                </a:solidFill>
                <a:latin typeface="+mn-ea"/>
              </a:rPr>
              <a:t>근거</a:t>
            </a:r>
            <a:endParaRPr b="1" dirty="0">
              <a:solidFill>
                <a:srgbClr val="2B2724"/>
              </a:solidFill>
              <a:latin typeface="+mn-ea"/>
            </a:endParaRPr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B6B9B682-9D2B-D2CF-D1C7-BAD51767F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489237"/>
              </p:ext>
            </p:extLst>
          </p:nvPr>
        </p:nvGraphicFramePr>
        <p:xfrm>
          <a:off x="566928" y="4611132"/>
          <a:ext cx="5394960" cy="1433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8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확신도 구간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건수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정확도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72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0.3~0.4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80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43.8 %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722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0.5~0.6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191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52.9 %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72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0.7 이상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66.7 %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60A41D1-A78D-F9A8-1904-6DF4CA289610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19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99090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AF992-5F85-DA56-43A3-25E2F0CC9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판정은 한 곳에서만 합니다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F19B7-4A31-4605-66BA-58AD068FA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58" y="1837397"/>
            <a:ext cx="4079041" cy="435385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 err="1">
                <a:solidFill>
                  <a:srgbClr val="EB6834"/>
                </a:solidFill>
                <a:latin typeface="+mn-ea"/>
              </a:rPr>
              <a:t>백엔드에는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 확률 계산 코드가 없습니다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폴백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경로를 제거해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두 경로가 서로 다른 답을 내는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"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실패 양식을 구조적으로 없앴습니다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추론 서비스는 포트를 열지 않습니다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팀에 배정된 포트가 둘뿐이라 유닉스 소켓으로 통신합니다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외부에서 닿을 수 없습니다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endParaRPr lang="en-US" altLang="ko-KR" sz="1400" dirty="0">
              <a:solidFill>
                <a:srgbClr val="4A443E"/>
              </a:solidFill>
              <a:latin typeface="+mn-ea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2B2724"/>
                </a:solidFill>
                <a:latin typeface="+mn-ea"/>
              </a:rPr>
              <a:t>기동할 때 대조합니다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문항 집합이나 </a:t>
            </a:r>
            <a:r>
              <a:rPr lang="en-US" altLang="ko-KR" sz="1400" dirty="0" err="1">
                <a:solidFill>
                  <a:srgbClr val="4A443E"/>
                </a:solidFill>
                <a:latin typeface="+mn-ea"/>
              </a:rPr>
              <a:t>sklearn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버전이 어긋나면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백엔드가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아예 뜨지 않습니다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조용히 틀린 판정이 나가는 것보다 낫다는 판단입니다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F906F-1CDF-6302-C5FA-183AC1946226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구현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pic>
        <p:nvPicPr>
          <p:cNvPr id="7" name="Picture 3" descr="V18-시스템구성.png">
            <a:extLst>
              <a:ext uri="{FF2B5EF4-FFF2-40B4-BE49-F238E27FC236}">
                <a16:creationId xmlns:a16="http://schemas.microsoft.com/office/drawing/2014/main" id="{1620CABF-2310-0531-DF94-DD258E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37397"/>
            <a:ext cx="7223759" cy="3457526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107DECED-18A6-E286-42A9-EE7A07A035A7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20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78367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46809-86A9-35BD-9929-A2728B524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ko-KR" altLang="en-US" dirty="0">
                <a:solidFill>
                  <a:srgbClr val="2B2724"/>
                </a:solidFill>
                <a:latin typeface="AppleGothic"/>
              </a:rPr>
              <a:t>현재 구현된 서비스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7E5931-D0ED-59C2-71A4-B345AC31C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1280" y="1280160"/>
            <a:ext cx="4058720" cy="1908291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로그인 없음 </a:t>
            </a:r>
            <a:r>
              <a:rPr lang="en-US" altLang="ko-KR" sz="1400" b="1" dirty="0">
                <a:solidFill>
                  <a:srgbClr val="2B2724"/>
                </a:solidFill>
                <a:latin typeface="+mn-ea"/>
              </a:rPr>
              <a:t>· </a:t>
            </a: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별명만 </a:t>
            </a:r>
            <a:r>
              <a:rPr lang="en-US" altLang="ko-KR" sz="1400" b="1" dirty="0">
                <a:solidFill>
                  <a:srgbClr val="2B2724"/>
                </a:solidFill>
                <a:latin typeface="+mn-ea"/>
              </a:rPr>
              <a:t>· </a:t>
            </a: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약 </a:t>
            </a:r>
            <a:r>
              <a:rPr lang="en-US" altLang="ko-KR" sz="1400" b="1" dirty="0">
                <a:solidFill>
                  <a:srgbClr val="2B2724"/>
                </a:solidFill>
                <a:latin typeface="+mn-ea"/>
              </a:rPr>
              <a:t>2</a:t>
            </a:r>
            <a:r>
              <a:rPr lang="ko-KR" altLang="en-US" sz="1400" b="1" dirty="0">
                <a:solidFill>
                  <a:srgbClr val="2B2724"/>
                </a:solidFill>
                <a:latin typeface="+mn-ea"/>
              </a:rPr>
              <a:t>분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부담이 큰 사람이 끝까지 갈 수 있는 분량이어야 의미가 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6710A-F63F-7CCD-E526-3C8FDDF083CF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구현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DDA01E8A-0A56-4F78-481D-0C87A15B58BE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21</a:t>
            </a:fld>
            <a:endParaRPr lang="ko-KR" altLang="en-US" sz="9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AA540AB-789E-E07D-9E0D-67A636D19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19" y="1280160"/>
            <a:ext cx="7165652" cy="44704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9180903-77C1-BEED-5C57-36B62A8F7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82" y="3505201"/>
            <a:ext cx="5634676" cy="303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94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59543-5BB0-4F59-9C4B-01278B6E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 SD Gothic Neo"/>
              </a:rPr>
              <a:t>우리나라 발달장애인 돌봄 서비스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9390E1-8A33-63B1-19C9-6A2EBFB95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440680"/>
            <a:ext cx="11280000" cy="124333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그래서 나이로 갈라 안내합니다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만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6~17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세 → 청소년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방과후활동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그 외 → 주간활동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·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해당 없음 → 노인장기요양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·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발달재활서비스 안내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연령은 서비스 유형을 고르는 데만 쓰고 보관하지 않습니다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학습 데이터에 당사자의 현재 연령이 없어 모델 입력도 아닙니다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64AD0-DCC8-19B2-919A-8421CAEB0E0F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연계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541F48C7-1C8F-FE52-F664-D363171AD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795772"/>
              </p:ext>
            </p:extLst>
          </p:nvPr>
        </p:nvGraphicFramePr>
        <p:xfrm>
          <a:off x="566929" y="1417320"/>
          <a:ext cx="6392670" cy="164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5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1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1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12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제도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대상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기관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시군구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1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발달장애인 주간활동서비스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만 18~64세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724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217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128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청소년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방과후활동서비스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만 6~17세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553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196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12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합계</a:t>
                      </a:r>
                      <a:r>
                        <a:rPr lang="en-US" altLang="ko-KR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중복 기관 제외</a:t>
                      </a:r>
                      <a:r>
                        <a:rPr lang="en-US" altLang="ko-KR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875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221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68756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391E4FE-D894-E42A-C2AD-CB253E5536D1}"/>
              </a:ext>
            </a:extLst>
          </p:cNvPr>
          <p:cNvSpPr txBox="1"/>
          <p:nvPr/>
        </p:nvSpPr>
        <p:spPr>
          <a:xfrm>
            <a:off x="566929" y="3355258"/>
            <a:ext cx="5394960" cy="19851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dirty="0" err="1">
                <a:solidFill>
                  <a:srgbClr val="2B2724"/>
                </a:solidFill>
                <a:latin typeface="+mn-ea"/>
              </a:rPr>
              <a:t>전국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 229개 </a:t>
            </a:r>
            <a:r>
              <a:rPr sz="1400" b="1" dirty="0" err="1">
                <a:solidFill>
                  <a:srgbClr val="2B2724"/>
                </a:solidFill>
                <a:latin typeface="+mn-ea"/>
              </a:rPr>
              <a:t>시군구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 중 221개 </a:t>
            </a:r>
            <a:r>
              <a:rPr sz="1400" b="1" dirty="0" err="1">
                <a:solidFill>
                  <a:srgbClr val="2B2724"/>
                </a:solidFill>
                <a:latin typeface="+mn-ea"/>
              </a:rPr>
              <a:t>확보</a:t>
            </a:r>
            <a:r>
              <a:rPr sz="1400" b="1" dirty="0">
                <a:solidFill>
                  <a:srgbClr val="2B2724"/>
                </a:solidFill>
                <a:latin typeface="+mn-ea"/>
              </a:rPr>
              <a:t> (96.5%)</a:t>
            </a:r>
          </a:p>
          <a:p>
            <a:pPr algn="l">
              <a:spcAft>
                <a:spcPts val="600"/>
              </a:spcAft>
            </a:pPr>
            <a:r>
              <a:rPr sz="1400" b="0" dirty="0" err="1">
                <a:solidFill>
                  <a:srgbClr val="4A443E"/>
                </a:solidFill>
                <a:latin typeface="+mn-ea"/>
              </a:rPr>
              <a:t>미확보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8개는 "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정보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준비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중 +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광역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문의처"로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 </a:t>
            </a:r>
            <a:r>
              <a:rPr sz="1400" b="0" dirty="0" err="1">
                <a:solidFill>
                  <a:srgbClr val="4A443E"/>
                </a:solidFill>
                <a:latin typeface="+mn-ea"/>
              </a:rPr>
              <a:t>안내합니다</a:t>
            </a:r>
            <a:r>
              <a:rPr sz="1400" b="0" dirty="0">
                <a:solidFill>
                  <a:srgbClr val="4A443E"/>
                </a:solidFill>
                <a:latin typeface="+mn-ea"/>
              </a:rPr>
              <a:t>.</a:t>
            </a:r>
            <a:endParaRPr lang="en-US" sz="1400" b="0" dirty="0">
              <a:solidFill>
                <a:srgbClr val="4A443E"/>
              </a:solidFill>
              <a:latin typeface="+mn-ea"/>
            </a:endParaRPr>
          </a:p>
          <a:p>
            <a:pPr algn="l">
              <a:spcAft>
                <a:spcPts val="600"/>
              </a:spcAft>
            </a:pPr>
            <a:endParaRPr lang="en-US" sz="1400" dirty="0">
              <a:solidFill>
                <a:srgbClr val="4A443E"/>
              </a:solidFill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ko-KR" altLang="en-US" sz="1400" b="1" dirty="0">
                <a:solidFill>
                  <a:srgbClr val="7D4A5F"/>
                </a:solidFill>
                <a:latin typeface="+mn-ea"/>
              </a:rPr>
              <a:t>제도의 틈 </a:t>
            </a:r>
            <a:r>
              <a:rPr lang="en-US" altLang="ko-KR" sz="1400" b="1" dirty="0">
                <a:solidFill>
                  <a:srgbClr val="7D4A5F"/>
                </a:solidFill>
                <a:latin typeface="+mn-ea"/>
              </a:rPr>
              <a:t>— </a:t>
            </a:r>
            <a:r>
              <a:rPr lang="ko-KR" altLang="en-US" sz="1400" b="1" dirty="0">
                <a:solidFill>
                  <a:srgbClr val="7D4A5F"/>
                </a:solidFill>
                <a:latin typeface="+mn-ea"/>
              </a:rPr>
              <a:t>만 </a:t>
            </a:r>
            <a:r>
              <a:rPr lang="en-US" altLang="ko-KR" sz="1400" b="1" dirty="0">
                <a:solidFill>
                  <a:srgbClr val="7D4A5F"/>
                </a:solidFill>
                <a:latin typeface="+mn-ea"/>
              </a:rPr>
              <a:t>65</a:t>
            </a:r>
            <a:r>
              <a:rPr lang="ko-KR" altLang="en-US" sz="1400" b="1" dirty="0">
                <a:solidFill>
                  <a:srgbClr val="7D4A5F"/>
                </a:solidFill>
                <a:latin typeface="+mn-ea"/>
              </a:rPr>
              <a:t>세 이상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장애인 서비스에서는 나이가 많고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노인 서비스에서는 발달장애 특성이 고려되지 않습니다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algn="l">
              <a:spcAft>
                <a:spcPts val="600"/>
              </a:spcAft>
            </a:pPr>
            <a:endParaRPr sz="1400" b="0" dirty="0">
              <a:solidFill>
                <a:srgbClr val="4A443E"/>
              </a:solidFill>
              <a:latin typeface="+mn-ea"/>
            </a:endParaRPr>
          </a:p>
        </p:txBody>
      </p:sp>
      <p:pic>
        <p:nvPicPr>
          <p:cNvPr id="11" name="Picture 21" descr="H-대전지도.png">
            <a:extLst>
              <a:ext uri="{FF2B5EF4-FFF2-40B4-BE49-F238E27FC236}">
                <a16:creationId xmlns:a16="http://schemas.microsoft.com/office/drawing/2014/main" id="{DFA3548B-7AFB-480B-D9A9-D61C3B267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137" y="1235833"/>
            <a:ext cx="4067863" cy="4386334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A85D1797-D9AE-E9AE-8696-323C417B77F5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22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708711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E042A-5EA9-A946-AF73-2E604BD0A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개인정보를 받지 않는 설계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39A20E-F005-3796-B64B-B437EC902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917440"/>
            <a:ext cx="11280000" cy="127381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저장 금지 항목은 문서에 적는 대신 컬럼 자체를 만들지 않았습니다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참조 집단 비교도 표본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30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건 미만 셀은 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DB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제약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(CHECK n &gt;= 30)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으로 적재를 막았습니다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돌봄부담은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가족의 건강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·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장애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·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경제 상황이 얽힌 민감정보입니다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 marL="0" indent="0">
              <a:buNone/>
            </a:pPr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2A9D1-B120-F8A2-6C74-52C4F1094AF1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원칙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95957D46-4F29-151B-978E-8AF25563F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077534"/>
              </p:ext>
            </p:extLst>
          </p:nvPr>
        </p:nvGraphicFramePr>
        <p:xfrm>
          <a:off x="566928" y="1417320"/>
          <a:ext cx="110642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원칙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구현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로그인 없음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계정 개념 자체가 없다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이름·연락처 없음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별명만 받고 서버로 보내지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IP 미보관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중복 판별용 해시만 만들고 원본은 버린다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위치 미보관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기관 찾기에만 쓰고 저장하지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학습 이용은 동의제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거부해도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진단·연계는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똑같이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제공한다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3F41378C-64D5-5BF3-AFA9-1B526DB6D653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23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4841175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61FA9-75FA-A05B-05BE-A795940D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남기는 한계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DD47F-9CAE-866B-8C20-6C6E121F7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313680"/>
            <a:ext cx="11280000" cy="87757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ko-KR" altLang="en-US" sz="1400" dirty="0">
                <a:latin typeface="+mn-ea"/>
              </a:rPr>
              <a:t>실루엣 계수는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잘 뭉쳤는가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를 잴 뿐 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의미 있게 나뉘었는가</a:t>
            </a:r>
            <a:r>
              <a:rPr lang="en-US" altLang="ko-KR" sz="1400" dirty="0">
                <a:latin typeface="+mn-ea"/>
              </a:rPr>
              <a:t>"</a:t>
            </a:r>
            <a:r>
              <a:rPr lang="ko-KR" altLang="en-US" sz="1400" dirty="0">
                <a:latin typeface="+mn-ea"/>
              </a:rPr>
              <a:t>는 재지 못합니다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latin typeface="+mn-ea"/>
              </a:rPr>
              <a:t>군집 프로파일은 발견된 유형이지 검증된 유형이 아닙니다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교차검증한 정확도는 아직 재지 않았습니다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551B3-B44A-CA71-2704-F58A49B1719C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정직하게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0BB3FDAE-A74C-69C0-1240-970F45EC0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152818"/>
              </p:ext>
            </p:extLst>
          </p:nvPr>
        </p:nvGraphicFramePr>
        <p:xfrm>
          <a:off x="566928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한계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대응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5구간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정확도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48</a:t>
                      </a:r>
                      <a:r>
                        <a:rPr lang="en-US"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.7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등급이 아니라 "고부담 여부"로 읽도록 설계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설명변수가 5구간을 가를 정보를 못 담음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여섯 번 다 해봤지만 </a:t>
                      </a:r>
                      <a:r>
                        <a:rPr lang="ko-KR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의미 있는 차이가 나온 것은 하나도 없었습니다</a:t>
                      </a:r>
                      <a:endParaRPr sz="16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데이터를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더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모으면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나아지는가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학습곡선이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평평하다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— 5배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늘리는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동안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2.5%p,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마지막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구간은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+0.7%p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최상위 설명변수를 일부러 배제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성능보다 도구의 의미를 택한 결정. 되돌리지 않음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자발적 이용자는 전국 대표 표본이 아님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학습 데이터를 대체하지 않고 보완으로만 사용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8개 시군구 데이터 미확보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"준비 중 + 광역 문의처"로 처리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인과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설명을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하지</a:t>
                      </a:r>
                      <a:r>
                        <a:rPr sz="1400" b="0" dirty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않았다</a:t>
                      </a:r>
                      <a:endParaRPr sz="1400" b="0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1회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횡단면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조사의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한계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종단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조사가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필요하다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48E871C4-1A48-AB73-6BD1-DEA635253D19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24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605930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2BEFE-A667-C906-5212-0FBA4EB1B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B2724"/>
                </a:solidFill>
                <a:latin typeface="AppleGothic"/>
              </a:rPr>
              <a:t>같은 답이 다시 나오는가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C0675-19CC-34E7-8A50-7FDA9A2ED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4765040"/>
            <a:ext cx="11280000" cy="142621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고쳤다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와 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그 코드가 돌고 있다</a:t>
            </a:r>
            <a:r>
              <a:rPr lang="en-US" altLang="ko-KR" sz="16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600" b="1" dirty="0">
                <a:solidFill>
                  <a:srgbClr val="EB6834"/>
                </a:solidFill>
                <a:latin typeface="+mn-ea"/>
              </a:rPr>
              <a:t>는 다른 말입니다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추론 서비스를 중지하면 판정이 나오지 않고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되살리면 다시 나옵니다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 err="1">
                <a:solidFill>
                  <a:srgbClr val="4A443E"/>
                </a:solidFill>
                <a:latin typeface="+mn-ea"/>
              </a:rPr>
              <a:t>파이썬이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 읽는 릴리스 파일만 바꾸자 공개 사이트의 답이 바뀌었고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되돌리자 복귀했습니다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데이터로 시작해 데이터로 답합니다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그 답이 유용할 때 의사결정 대안이 되고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A443E"/>
                </a:solidFill>
                <a:latin typeface="+mn-ea"/>
              </a:rPr>
              <a:t>반복될 때 시스템 모듈이 됩니다</a:t>
            </a:r>
            <a:r>
              <a:rPr lang="en-US" altLang="ko-KR" sz="1400" dirty="0">
                <a:solidFill>
                  <a:srgbClr val="4A443E"/>
                </a:solidFill>
                <a:latin typeface="+mn-ea"/>
              </a:rPr>
              <a:t>.</a:t>
            </a:r>
          </a:p>
          <a:p>
            <a:endParaRPr lang="ko-KR" altLang="en-US" sz="16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81A6C-6882-0C3F-DC18-9EC5A23CE416}"/>
              </a:ext>
            </a:extLst>
          </p:cNvPr>
          <p:cNvSpPr txBox="1"/>
          <p:nvPr/>
        </p:nvSpPr>
        <p:spPr>
          <a:xfrm>
            <a:off x="480000" y="148828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dirty="0">
                <a:solidFill>
                  <a:srgbClr val="EB6834"/>
                </a:solidFill>
                <a:latin typeface="+mn-ea"/>
              </a:rPr>
              <a:t>운영</a:t>
            </a:r>
            <a:endParaRPr sz="1100" b="1" dirty="0">
              <a:solidFill>
                <a:srgbClr val="EB6834"/>
              </a:solidFill>
              <a:latin typeface="+mn-ea"/>
            </a:endParaRPr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5E3A5AFD-9472-8C1F-7B3E-E25051754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783058"/>
              </p:ext>
            </p:extLst>
          </p:nvPr>
        </p:nvGraphicFramePr>
        <p:xfrm>
          <a:off x="566928" y="1417320"/>
          <a:ext cx="11064238" cy="25603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항목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무엇을 고정했나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어긋나면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난수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SEED = 20260901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같은 데이터에서 다른 모델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분할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split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cv_fold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를 DB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컬럼에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물리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저장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이전 실험과 비교 불가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행 순서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row_key = 행 내용 MD5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분할이 재현되지 않음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라이브러리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기동 시 sklearn 버전 대조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백엔드가 뜨지 않는다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문항 집합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기동 시 백엔드 ↔ 추론 대조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백엔드가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뜨지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않는다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전처리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전처리와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모델을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릴리스로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묶어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promote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배포처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재현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불일치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C800C8A6-555C-F0AB-FDC3-EE38696E5FF2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25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426094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A3A2D-94D1-68B7-996C-10C0E6B82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6A45C6-EB23-DB5B-9128-BFCB8ACCA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5760720"/>
            <a:ext cx="11280000" cy="430530"/>
          </a:xfrm>
        </p:spPr>
        <p:txBody>
          <a:bodyPr>
            <a:normAutofit/>
          </a:bodyPr>
          <a:lstStyle/>
          <a:p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정확한 진단이 아니라 </a:t>
            </a: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말 걸기</a:t>
            </a: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"</a:t>
            </a:r>
            <a:r>
              <a:rPr lang="ko-KR" altLang="en-US" sz="1800" b="1" dirty="0">
                <a:solidFill>
                  <a:srgbClr val="EB6834"/>
                </a:solidFill>
                <a:latin typeface="+mn-ea"/>
              </a:rPr>
              <a:t>입니다</a:t>
            </a:r>
            <a:r>
              <a:rPr lang="en-US" altLang="ko-KR" sz="1800" b="1" dirty="0">
                <a:solidFill>
                  <a:srgbClr val="EB6834"/>
                </a:solidFill>
                <a:latin typeface="+mn-ea"/>
              </a:rPr>
              <a:t>.</a:t>
            </a:r>
          </a:p>
          <a:p>
            <a:endParaRPr lang="ko-KR" altLang="en-US" sz="1800" dirty="0">
              <a:latin typeface="+mn-ea"/>
            </a:endParaRP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8F83CAD3-8070-4EA4-9A3F-0B66FF51E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523753"/>
              </p:ext>
            </p:extLst>
          </p:nvPr>
        </p:nvGraphicFramePr>
        <p:xfrm>
          <a:off x="566928" y="1371600"/>
          <a:ext cx="11064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4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dirty="0" err="1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sz="1800" b="1" dirty="0">
                        <a:solidFill>
                          <a:srgbClr val="2B2724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3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데이터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원본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507컬럼 → 45</a:t>
                      </a: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컬럼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→ </a:t>
                      </a: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설명변수 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38</a:t>
                      </a:r>
                      <a:r>
                        <a:rPr lang="ko-KR" altLang="en-US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전국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3,000가구,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고부담이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54.3%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축소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정답이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새는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6변수를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성능을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포기하고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배제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손실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허용치를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먼저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정해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7문항을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결과로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얻음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군집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원본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507컬럼으로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다시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하니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구조가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있었다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(널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대비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27배).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다만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천장을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올려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주지는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않는다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모델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11구성 +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앙상블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9구성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이긴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구성이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없어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다항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로지스틱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유지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성능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5구간은 못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맞히지만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여부는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재현율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0.773.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고부담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→"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부담없음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"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오판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0건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모르면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판정하지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않는다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그래도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기관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안내는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나간다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연계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주간활동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724곳 ·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방과후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553곳. 229개 중 221개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커버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. 65세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이상도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배제하지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않음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724"/>
                          </a:solidFill>
                          <a:latin typeface="+mn-ea"/>
                          <a:ea typeface="+mn-ea"/>
                        </a:rPr>
                        <a:t>의미</a:t>
                      </a: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등급을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매기는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도구가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아니라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자기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상태를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가늠하고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제도로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가는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최단</a:t>
                      </a:r>
                      <a:r>
                        <a:rPr sz="1400" b="0" dirty="0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4A443E"/>
                          </a:solidFill>
                          <a:latin typeface="+mn-ea"/>
                          <a:ea typeface="+mn-ea"/>
                        </a:rPr>
                        <a:t>경로</a:t>
                      </a:r>
                      <a:endParaRPr sz="1400" b="0" dirty="0">
                        <a:solidFill>
                          <a:srgbClr val="4A443E"/>
                        </a:solidFill>
                        <a:latin typeface="+mn-ea"/>
                        <a:ea typeface="+mn-ea"/>
                      </a:endParaRPr>
                    </a:p>
                  </a:txBody>
                  <a:tcPr marL="82296" marR="54864" marT="27432" marB="27432" anchor="ctr">
                    <a:solidFill>
                      <a:srgbClr val="F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62F415E3-62FB-19BA-F062-3337A9A9E5BF}"/>
              </a:ext>
            </a:extLst>
          </p:cNvPr>
          <p:cNvSpPr txBox="1">
            <a:spLocks/>
          </p:cNvSpPr>
          <p:nvPr/>
        </p:nvSpPr>
        <p:spPr>
          <a:xfrm>
            <a:off x="9016800" y="635635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7EED02C-446B-4E75-9E39-BCBF202E24F9}" type="slidenum">
              <a:rPr lang="ko-KR" altLang="en-US" sz="900" smtClean="0"/>
              <a:pPr algn="r"/>
              <a:t>26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661918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670038-8CCC-30D9-89A1-B6C1A4AE6CC0}"/>
              </a:ext>
            </a:extLst>
          </p:cNvPr>
          <p:cNvSpPr txBox="1"/>
          <p:nvPr/>
        </p:nvSpPr>
        <p:spPr>
          <a:xfrm>
            <a:off x="3063240" y="2081202"/>
            <a:ext cx="60655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anose="030303020407070D0804" pitchFamily="66" charset="0"/>
                <a:cs typeface="Times New Roman" panose="02020603050405020304" pitchFamily="18" charset="0"/>
              </a:rPr>
              <a:t>Fin</a:t>
            </a:r>
            <a:r>
              <a:rPr lang="en-US" altLang="ko-KR" sz="8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dwardian Script ITC" panose="030303020407070D0804" pitchFamily="66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바탕체" panose="02030609000101010101" pitchFamily="17" charset="-127"/>
                <a:ea typeface="바탕체" panose="02030609000101010101" pitchFamily="17" charset="-127"/>
              </a:rPr>
              <a:t>지금까지 발표 들어 주셔서 감사합니다</a:t>
            </a:r>
            <a:r>
              <a:rPr lang="en-US" altLang="ko-KR" dirty="0">
                <a:latin typeface="바탕체" panose="02030609000101010101" pitchFamily="17" charset="-127"/>
                <a:ea typeface="바탕체" panose="02030609000101010101" pitchFamily="17" charset="-127"/>
              </a:rPr>
              <a:t>.</a:t>
            </a:r>
          </a:p>
          <a:p>
            <a:pPr algn="ctr"/>
            <a:endParaRPr lang="ko-KR" altLang="en-US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3F0769-6A6F-4C5B-F7AB-8C089BEB32BF}"/>
              </a:ext>
            </a:extLst>
          </p:cNvPr>
          <p:cNvSpPr txBox="1"/>
          <p:nvPr/>
        </p:nvSpPr>
        <p:spPr>
          <a:xfrm>
            <a:off x="7933038" y="6203092"/>
            <a:ext cx="4151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p3.sumzip.com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8065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4AF436D6-C5D0-4888-B735-F871041BAD25}" vid="{FED7F7D9-BB4F-4D6A-A2F2-82AE3EC2A51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833</TotalTime>
  <Words>3077</Words>
  <Application>Microsoft Office PowerPoint</Application>
  <PresentationFormat>와이드스크린</PresentationFormat>
  <Paragraphs>567</Paragraphs>
  <Slides>28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Apple SD Gothic Neo</vt:lpstr>
      <vt:lpstr>AppleGothic</vt:lpstr>
      <vt:lpstr>맑은 고딕</vt:lpstr>
      <vt:lpstr>바탕체</vt:lpstr>
      <vt:lpstr>Arial</vt:lpstr>
      <vt:lpstr>Edwardian Script ITC</vt:lpstr>
      <vt:lpstr>Times New Roman</vt:lpstr>
      <vt:lpstr>테마1</vt:lpstr>
      <vt:lpstr>돌봄의 무게를 읽다</vt:lpstr>
      <vt:lpstr>네 사람이 나눠 맡았습니다</vt:lpstr>
      <vt:lpstr>설문 원자료 507컬럼에서 7문항 웹 서비스까지</vt:lpstr>
      <vt:lpstr>돌봄의 무게는 본인도 재기 어렵습니다</vt:lpstr>
      <vt:lpstr>네 가지 중 우리가 한 것과 하지 않은 것</vt:lpstr>
      <vt:lpstr>표 한 장의 모양이 여덟 번 바뀝니다</vt:lpstr>
      <vt:lpstr>고부담은 예외가 아니라 기본값에 가깝습니다</vt:lpstr>
      <vt:lpstr>정답이 새는 변수 6개를 일부러 버렸습니다</vt:lpstr>
      <vt:lpstr>분할이 변환보다 먼저입니다</vt:lpstr>
      <vt:lpstr>무엇이 돌봄부담과 관련되는가</vt:lpstr>
      <vt:lpstr>정답을 가리고 나눠 봤더니 — 구조가 있었습니다</vt:lpstr>
      <vt:lpstr>구조는 있지만, 천장을 올려 주지는 않습니다</vt:lpstr>
      <vt:lpstr>이길 수 있는 구성이 있는지 먼저 확인했습니다</vt:lpstr>
      <vt:lpstr>문항 수를 먼저 정하지 않았습니다</vt:lpstr>
      <vt:lpstr>채택된 7문항</vt:lpstr>
      <vt:lpstr>31개를 버렸는데 오류 구조가 그대로입니다</vt:lpstr>
      <vt:lpstr>왜 6에서 멈추지 않고 7을 골랐나</vt:lpstr>
      <vt:lpstr>문항을 14개로 늘려 봤다가 되돌렸습니다</vt:lpstr>
      <vt:lpstr>무엇을 할 수 있고 무엇을 못 하나</vt:lpstr>
      <vt:lpstr>모르는 것을 모른다고 말합니다</vt:lpstr>
      <vt:lpstr>판정은 한 곳에서만 합니다</vt:lpstr>
      <vt:lpstr>현재 구현된 서비스</vt:lpstr>
      <vt:lpstr>우리나라 발달장애인 돌봄 서비스</vt:lpstr>
      <vt:lpstr>개인정보를 받지 않는 설계</vt:lpstr>
      <vt:lpstr>남기는 한계</vt:lpstr>
      <vt:lpstr>같은 답이 다시 나오는가</vt:lpstr>
      <vt:lpstr>요약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Seong-Gi Jo</dc:creator>
  <cp:lastModifiedBy>Seong-Gi Jo</cp:lastModifiedBy>
  <cp:revision>17</cp:revision>
  <dcterms:created xsi:type="dcterms:W3CDTF">2026-09-02T02:33:01Z</dcterms:created>
  <dcterms:modified xsi:type="dcterms:W3CDTF">2026-09-03T08:32:58Z</dcterms:modified>
</cp:coreProperties>
</file>